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300" r:id="rId3"/>
    <p:sldId id="257" r:id="rId4"/>
    <p:sldId id="302" r:id="rId5"/>
    <p:sldId id="301" r:id="rId6"/>
    <p:sldId id="303" r:id="rId7"/>
    <p:sldId id="264" r:id="rId8"/>
    <p:sldId id="279" r:id="rId9"/>
    <p:sldId id="262" r:id="rId10"/>
    <p:sldId id="280" r:id="rId11"/>
    <p:sldId id="281" r:id="rId12"/>
    <p:sldId id="306" r:id="rId13"/>
    <p:sldId id="265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5" r:id="rId33"/>
    <p:sldId id="307" r:id="rId34"/>
    <p:sldId id="308" r:id="rId35"/>
    <p:sldId id="309" r:id="rId36"/>
    <p:sldId id="310" r:id="rId37"/>
    <p:sldId id="312" r:id="rId38"/>
    <p:sldId id="311" r:id="rId39"/>
    <p:sldId id="304" r:id="rId40"/>
    <p:sldId id="271" r:id="rId41"/>
  </p:sldIdLst>
  <p:sldSz cx="12192000" cy="6858000"/>
  <p:notesSz cx="6858000" cy="9144000"/>
  <p:embeddedFontLst>
    <p:embeddedFont>
      <p:font typeface="Lato" panose="020B0604020202020204" charset="0"/>
      <p:regular r:id="rId43"/>
      <p:bold r:id="rId44"/>
      <p:italic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ambria Math" panose="02040503050406030204" pitchFamily="18" charset="0"/>
      <p:regular r:id="rId51"/>
    </p:embeddedFont>
    <p:embeddedFont>
      <p:font typeface="Architects Daughter" panose="020B0604020202020204" charset="0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SWe2mdOEPffE/3tgrdShXl7Fm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8" autoAdjust="0"/>
    <p:restoredTop sz="94660"/>
  </p:normalViewPr>
  <p:slideViewPr>
    <p:cSldViewPr snapToGrid="0">
      <p:cViewPr>
        <p:scale>
          <a:sx n="75" d="100"/>
          <a:sy n="75" d="100"/>
        </p:scale>
        <p:origin x="6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47542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999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617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85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5209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450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8021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496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1164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8945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2186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506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61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964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808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658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3560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050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4378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220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4200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3023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46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72203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452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935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012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6811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9679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5719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67321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6009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2147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34475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5505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35492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1935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2055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19837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6091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833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675262" y="2670273"/>
            <a:ext cx="9067174" cy="108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Calibri"/>
              <a:buNone/>
            </a:pPr>
            <a:r>
              <a:rPr lang="en-US" sz="48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smtClean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UNIVERSIDADE </a:t>
            </a:r>
            <a:r>
              <a:rPr lang="en-US" sz="48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EDUARDO MONDLANE</a:t>
            </a:r>
            <a:br>
              <a:rPr lang="en-US" sz="48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FACULDADE DE ENGENHARIA</a:t>
            </a:r>
            <a:b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DEPARTAMENTO DE ELECTROTÉCNICA</a:t>
            </a:r>
            <a:b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Curso: Licenciatura em Engenharia Informática</a:t>
            </a:r>
            <a:b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Banco de D</a:t>
            </a:r>
            <a:r>
              <a:rPr lang="en-US" sz="3600" b="1" dirty="0">
                <a:solidFill>
                  <a:schemeClr val="accent6"/>
                </a:solidFill>
              </a:rPr>
              <a:t>ados I</a:t>
            </a: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5º Grupo </a:t>
            </a:r>
            <a:r>
              <a:rPr lang="en-US" sz="5400" b="1" dirty="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5400" b="1" dirty="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solidFill>
                <a:srgbClr val="00B050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770034" y="3597879"/>
            <a:ext cx="6261100" cy="89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sz="8000" b="1" dirty="0" err="1">
                <a:solidFill>
                  <a:schemeClr val="accent6"/>
                </a:solidFill>
              </a:rPr>
              <a:t>Regente</a:t>
            </a:r>
            <a:r>
              <a:rPr lang="en-US" sz="8000" b="1" dirty="0">
                <a:solidFill>
                  <a:schemeClr val="accent6"/>
                </a:solidFill>
              </a:rPr>
              <a:t>:</a:t>
            </a:r>
            <a:r>
              <a:rPr lang="en-US" sz="8000" dirty="0">
                <a:solidFill>
                  <a:schemeClr val="accent6"/>
                </a:solidFill>
              </a:rPr>
              <a:t> </a:t>
            </a:r>
            <a:r>
              <a:rPr lang="en-US" sz="8000" dirty="0"/>
              <a:t>Leila Omar</a:t>
            </a:r>
            <a:endParaRPr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sz="8000" dirty="0" err="1">
                <a:solidFill>
                  <a:schemeClr val="accent6"/>
                </a:solidFill>
              </a:rPr>
              <a:t>Assistentes</a:t>
            </a:r>
            <a:r>
              <a:rPr lang="en-US" sz="8000" dirty="0">
                <a:solidFill>
                  <a:schemeClr val="accent6"/>
                </a:solidFill>
              </a:rPr>
              <a:t>:</a:t>
            </a:r>
            <a:r>
              <a:rPr lang="en-US" sz="8000" dirty="0"/>
              <a:t> </a:t>
            </a:r>
            <a:r>
              <a:rPr lang="en-US" sz="8000" dirty="0" err="1"/>
              <a:t>Cristiliano</a:t>
            </a:r>
            <a:r>
              <a:rPr lang="en-US" sz="8000" dirty="0"/>
              <a:t> </a:t>
            </a:r>
            <a:r>
              <a:rPr lang="en-US" sz="8000" dirty="0" err="1"/>
              <a:t>Maculuve</a:t>
            </a:r>
            <a:endParaRPr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sz="8000" dirty="0" err="1">
                <a:solidFill>
                  <a:schemeClr val="accent6"/>
                </a:solidFill>
              </a:rPr>
              <a:t>Monitora</a:t>
            </a:r>
            <a:r>
              <a:rPr lang="en-US" sz="8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PT" sz="8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Ludmila</a:t>
            </a:r>
            <a:r>
              <a:rPr lang="pt-PT" sz="8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8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Mucavele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003399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0" y="914400"/>
            <a:ext cx="3152775" cy="390525"/>
          </a:xfrm>
          <a:prstGeom prst="rect">
            <a:avLst/>
          </a:prstGeom>
        </p:spPr>
      </p:sp>
      <p:pic>
        <p:nvPicPr>
          <p:cNvPr id="87" name="Google Shape;87;p1" descr="http://www.uem.mz/imagens/modlane.gif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0" y="366313"/>
            <a:ext cx="1363134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787400" y="676198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147191"/>
            <a:ext cx="78739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1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112025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52732" y="3060450"/>
            <a:ext cx="6626087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Discentes: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Junior, Luis Munaira 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Matimbe, José Justino</a:t>
            </a:r>
            <a:endParaRPr sz="20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Macaneta, Lino Filipe</a:t>
            </a:r>
            <a:endParaRPr sz="20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Xavier, Omar Davide                                              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24000" y="6261561"/>
            <a:ext cx="9144000" cy="56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24305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1000" b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000" b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000" b="0" u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Maputo, </a:t>
            </a:r>
            <a:r>
              <a:rPr lang="en-US" sz="6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Junho</a:t>
            </a:r>
            <a:r>
              <a:rPr lang="en-US" sz="6000" b="0" u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2022</a:t>
            </a:r>
            <a:endParaRPr sz="6000" b="1" u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3697" y="413266"/>
            <a:ext cx="1434378" cy="1262877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458971" y="696687"/>
            <a:ext cx="10831133" cy="486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lt1"/>
              </a:buClr>
              <a:buSzPts val="11000"/>
            </a:pPr>
            <a:r>
              <a:rPr lang="en-US" sz="9600" b="1" dirty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OS </a:t>
            </a:r>
            <a:r>
              <a:rPr lang="en-US" sz="9600" b="1" dirty="0" smtClean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AGENTES </a:t>
            </a:r>
            <a:r>
              <a:rPr lang="en-US" sz="9600" b="1" dirty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DA </a:t>
            </a:r>
            <a:r>
              <a:rPr lang="en-US" sz="9600" b="1" dirty="0" smtClean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MORGUE</a:t>
            </a:r>
            <a:br>
              <a:rPr lang="en-US" sz="9600" b="1" dirty="0" smtClean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9600" b="1" dirty="0" smtClean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APRESENTAM</a:t>
            </a:r>
            <a:r>
              <a:rPr lang="en-US" sz="13800" b="1" dirty="0">
                <a:solidFill>
                  <a:schemeClr val="lt1"/>
                </a:solidFill>
                <a:latin typeface="Lato" panose="020B0604020202020204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  <a:endParaRPr sz="9600" dirty="0"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735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777022" y="967227"/>
            <a:ext cx="10831133" cy="385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Font typeface="Lato"/>
              <a:buNone/>
            </a:pPr>
            <a:r>
              <a:rPr lang="en-US" sz="152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SGM-HCM</a:t>
            </a:r>
            <a:endParaRPr sz="15200" dirty="0"/>
          </a:p>
        </p:txBody>
      </p:sp>
      <p:sp>
        <p:nvSpPr>
          <p:cNvPr id="100" name="Google Shape;100;p2"/>
          <p:cNvSpPr txBox="1">
            <a:spLocks noGrp="1"/>
          </p:cNvSpPr>
          <p:nvPr>
            <p:ph type="subTitle" idx="1"/>
          </p:nvPr>
        </p:nvSpPr>
        <p:spPr>
          <a:xfrm>
            <a:off x="1207859" y="4567592"/>
            <a:ext cx="9969460" cy="95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90000"/>
              </a:lnSpc>
              <a:spcBef>
                <a:spcPts val="0"/>
              </a:spcBef>
              <a:buClr>
                <a:schemeClr val="lt1"/>
              </a:buClr>
              <a:buSzPts val="1760"/>
            </a:pPr>
            <a:r>
              <a:rPr lang="en-US" sz="22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SISTEMA DE GESTÃO DE MORGUE DO HOSPITAL CENTRAL DE MAPUTO</a:t>
            </a:r>
          </a:p>
          <a:p>
            <a:pPr marL="0" lvl="0" indent="0" algn="ctr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</a:pPr>
            <a:endParaRPr sz="2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ítulo 4"/>
          <p:cNvSpPr txBox="1">
            <a:spLocks/>
          </p:cNvSpPr>
          <p:nvPr/>
        </p:nvSpPr>
        <p:spPr>
          <a:xfrm>
            <a:off x="1162976" y="1087429"/>
            <a:ext cx="10108858" cy="13111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40" tIns="45720" rIns="91440" bIns="4572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6"/>
              </a:buClr>
              <a:buSzPts val="4400"/>
            </a:pPr>
            <a:r>
              <a:rPr lang="en-US" sz="8500" dirty="0" smtClean="0">
                <a:solidFill>
                  <a:schemeClr val="bg1"/>
                </a:solidFill>
                <a:latin typeface="Lato"/>
                <a:sym typeface="Lato"/>
              </a:rPr>
              <a:t>Banco de Dados do:</a:t>
            </a:r>
            <a:endParaRPr lang="pt-BR" sz="85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27315"/>
            <a:ext cx="10515600" cy="863374"/>
          </a:xfrm>
        </p:spPr>
        <p:txBody>
          <a:bodyPr>
            <a:noAutofit/>
          </a:bodyPr>
          <a:lstStyle/>
          <a:p>
            <a:pPr algn="ctr"/>
            <a:r>
              <a:rPr lang="pt-PT" sz="4800" b="1" dirty="0" smtClean="0">
                <a:solidFill>
                  <a:schemeClr val="accent6"/>
                </a:solidFill>
                <a:latin typeface="Lato" panose="020B0604020202020204" charset="0"/>
                <a:cs typeface="Times New Roman" panose="02020603050405020304" pitchFamily="18" charset="0"/>
              </a:rPr>
              <a:t>INTRODUÇÃO</a:t>
            </a:r>
            <a:endParaRPr lang="pt-BR" sz="4800" b="1" dirty="0">
              <a:solidFill>
                <a:schemeClr val="accent6"/>
              </a:solidFill>
              <a:latin typeface="La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520825"/>
            <a:ext cx="1051560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gestão de dados de obituários nas morgues em Maputo, especificamente no Hospital Central de Maputo, é feita manualmente o que torna o processo bastante complicado.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processos de identificação e reconhecimento de cadáveres são exaustivos e extremamente complicados e isso dificulta a coleta de dados e identificação de corpos falecidos, tanto para os funcionários da morgue bem como para os familiares dos falecidos. </a:t>
            </a:r>
            <a:endParaRPr lang="pt-BR" sz="3200" dirty="0"/>
          </a:p>
        </p:txBody>
      </p:sp>
      <p:sp>
        <p:nvSpPr>
          <p:cNvPr id="5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41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800" b="1" dirty="0" smtClean="0">
                <a:solidFill>
                  <a:schemeClr val="accent6"/>
                </a:solidFill>
                <a:latin typeface="Lato" panose="020B0604020202020204" charset="0"/>
                <a:cs typeface="Times New Roman" panose="02020603050405020304" pitchFamily="18" charset="0"/>
              </a:rPr>
              <a:t>INTRODUÇÃO (Cont.)</a:t>
            </a:r>
            <a:endParaRPr lang="pt-BR" sz="48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317625"/>
            <a:ext cx="1051560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Visto que a gestão manual de informações esta propensa a danos ou perdas totais das mesmas. Face a este cenário, o decorrente trabalho fará uma abordagem mais detalhada da gestão na morgue (Mini- Mundo, mapeamento, normalização, e o uso de SQL), aplicando os conhecimentos adquiridos na cadeira de Base de Dados I nesta com a finalidade de criar um Banco de Dados para o </a:t>
            </a:r>
            <a:r>
              <a:rPr lang="pt-P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Gestão de Morgue do Hospital Central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Maputo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(SGM-HCM).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294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PT" sz="4800" b="1" dirty="0" smtClean="0">
                <a:solidFill>
                  <a:schemeClr val="accent6"/>
                </a:solidFill>
              </a:rPr>
              <a:t>OBJECTIVOS</a:t>
            </a:r>
            <a:endParaRPr lang="pt-BR" sz="4800" b="1" dirty="0">
              <a:solidFill>
                <a:schemeClr val="accent6"/>
              </a:solidFill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172481"/>
            <a:ext cx="10515600" cy="4351338"/>
          </a:xfrm>
          <a:noFill/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pt-PT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Gerais</a:t>
            </a:r>
            <a:endParaRPr lang="pt-BR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um banco de dados para um Sistema de Gestão de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Morgue</a:t>
            </a:r>
          </a:p>
          <a:p>
            <a:pPr marL="571500" lvl="1" indent="0">
              <a:buNone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Hospital Central de Maputo.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>
              <a:buNone/>
            </a:pPr>
            <a:r>
              <a:rPr lang="pt-PT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Específicos</a:t>
            </a:r>
            <a:endParaRPr lang="pt-BR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a descrição de um Mini-Mundo à critério do grupo, e desenvolver o mesmo de forma como base de dados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1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Resolver um problema do Mini-Mundo com o auxílio da base de dados.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210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600" b="1" dirty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DESCRIÇÃO DO </a:t>
            </a:r>
            <a:r>
              <a:rPr lang="en-US" sz="3600" b="1" dirty="0" smtClean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PROBLEMA (MINI MUNDO)</a:t>
            </a:r>
            <a:endParaRPr sz="3600" b="1" dirty="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9"/>
          <p:cNvSpPr txBox="1">
            <a:spLocks noGrp="1"/>
          </p:cNvSpPr>
          <p:nvPr>
            <p:ph type="body" idx="1"/>
          </p:nvPr>
        </p:nvSpPr>
        <p:spPr>
          <a:xfrm>
            <a:off x="838200" y="12134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SzPts val="3200"/>
              <a:buNone/>
            </a:pPr>
            <a:r>
              <a:rPr lang="pt-PT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 do Hospital Central de Maputo é uma instituição pública que carece de organização de dados em relação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gestão</a:t>
            </a:r>
            <a:r>
              <a:rPr lang="pt-PT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dados</a:t>
            </a:r>
            <a:r>
              <a:rPr lang="pt-PT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falecidos.</a:t>
            </a:r>
            <a:r>
              <a:rPr lang="pt-PT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</a:t>
            </a:r>
            <a:r>
              <a:rPr lang="pt-PT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tal,</a:t>
            </a:r>
            <a:r>
              <a:rPr lang="pt-PT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necessário</a:t>
            </a:r>
            <a:r>
              <a:rPr lang="pt-PT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desenvolver-se</a:t>
            </a:r>
            <a:r>
              <a:rPr lang="pt-PT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sistema</a:t>
            </a:r>
            <a:r>
              <a:rPr lang="pt-PT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gestão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banco</a:t>
            </a:r>
            <a:r>
              <a:rPr lang="pt-PT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dados</a:t>
            </a:r>
            <a:r>
              <a:rPr lang="pt-PT" spc="-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realizar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controle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centralizado de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falecidos,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agências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funerárias,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funcionários da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32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DESCRIÇÃO DO PROBLEMA (MINI </a:t>
            </a:r>
            <a:r>
              <a:rPr lang="en-US" sz="3200" b="1" dirty="0" smtClean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MUNDO-Cont.)</a:t>
            </a:r>
            <a:endParaRPr sz="3200"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3996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R="71755" lvl="0" indent="-4572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possui</a:t>
            </a:r>
            <a:r>
              <a:rPr lang="pt-PT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endereço,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contacto,</a:t>
            </a:r>
            <a:r>
              <a:rPr lang="pt-PT" sz="32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recebe</a:t>
            </a:r>
            <a:r>
              <a:rPr lang="pt-PT" sz="32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corpos,</a:t>
            </a:r>
            <a:r>
              <a:rPr lang="pt-PT" sz="32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</a:t>
            </a:r>
            <a:r>
              <a:rPr lang="pt-PT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podem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</a:t>
            </a:r>
            <a:r>
              <a:rPr lang="pt-PT" sz="32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(Conhecidos</a:t>
            </a:r>
            <a:r>
              <a:rPr lang="pt-PT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Desconhecidos),</a:t>
            </a:r>
            <a:r>
              <a:rPr lang="pt-PT" sz="32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 pode receber vários</a:t>
            </a:r>
            <a:r>
              <a:rPr lang="pt-PT" sz="32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R="71755" lvl="0" indent="-45720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457200" algn="just">
              <a:spcBef>
                <a:spcPts val="80"/>
              </a:spcBef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conhecidos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transportados</a:t>
            </a:r>
            <a:r>
              <a:rPr lang="pt-PT" sz="32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pelas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agências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funerárias;</a:t>
            </a:r>
          </a:p>
          <a:p>
            <a:pPr indent="-457200" algn="just">
              <a:spcBef>
                <a:spcPts val="80"/>
              </a:spcBef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73025" lvl="0" indent="-457200" algn="just">
              <a:lnSpc>
                <a:spcPct val="145000"/>
              </a:lnSpc>
              <a:spcBef>
                <a:spcPts val="8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PT" sz="32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agências</a:t>
            </a:r>
            <a:r>
              <a:rPr lang="pt-PT" sz="32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funerárias</a:t>
            </a:r>
            <a:r>
              <a:rPr lang="pt-PT" sz="32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têm</a:t>
            </a:r>
            <a:r>
              <a:rPr lang="pt-PT" sz="32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2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endereço,</a:t>
            </a:r>
            <a:r>
              <a:rPr lang="pt-PT" sz="32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</a:t>
            </a:r>
            <a:r>
              <a:rPr lang="pt-PT" sz="32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2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contacto,</a:t>
            </a:r>
            <a:r>
              <a:rPr lang="pt-PT" sz="32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uma</a:t>
            </a:r>
            <a:r>
              <a:rPr lang="pt-PT" sz="32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2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várias</a:t>
            </a:r>
            <a:r>
              <a:rPr lang="pt-PT" sz="32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agências</a:t>
            </a:r>
            <a:r>
              <a:rPr lang="pt-PT" sz="32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transportam</a:t>
            </a:r>
            <a:r>
              <a:rPr lang="pt-PT" sz="32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vários</a:t>
            </a:r>
            <a:r>
              <a:rPr lang="pt-PT" sz="32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 conhecidos;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6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</a:t>
            </a:r>
            <a:r>
              <a:rPr lang="pt-PT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19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body" idx="1"/>
          </p:nvPr>
        </p:nvSpPr>
        <p:spPr>
          <a:xfrm>
            <a:off x="838200" y="1378773"/>
            <a:ext cx="10515600" cy="448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R="73660" lvl="0" indent="-457200" algn="just">
              <a:lnSpc>
                <a:spcPct val="145000"/>
              </a:lnSpc>
              <a:spcBef>
                <a:spcPts val="6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2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possuem</a:t>
            </a:r>
            <a:r>
              <a:rPr lang="pt-PT" sz="32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género,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2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</a:t>
            </a:r>
            <a:r>
              <a:rPr lang="pt-PT" sz="32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etária,</a:t>
            </a:r>
            <a:r>
              <a:rPr lang="pt-PT" sz="32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hora,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</a:t>
            </a:r>
            <a:r>
              <a:rPr lang="pt-PT" sz="32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pt-PT" sz="32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morte,</a:t>
            </a:r>
            <a:r>
              <a:rPr lang="pt-PT" sz="32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2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estes</a:t>
            </a:r>
            <a:r>
              <a:rPr lang="pt-PT" sz="32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2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reconhecidos</a:t>
            </a:r>
            <a:r>
              <a:rPr lang="pt-PT" sz="32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pelos</a:t>
            </a:r>
            <a:r>
              <a:rPr lang="pt-PT" sz="32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parentes;</a:t>
            </a:r>
          </a:p>
          <a:p>
            <a:pPr marL="0" marR="73660" lvl="0" indent="0" algn="just">
              <a:lnSpc>
                <a:spcPct val="145000"/>
              </a:lnSpc>
              <a:spcBef>
                <a:spcPts val="65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8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fim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facilitar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2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identificação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falecido um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mais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</a:t>
            </a:r>
          </a:p>
          <a:p>
            <a:pPr marL="0" marR="0" lvl="0" indent="0" algn="just">
              <a:spcBef>
                <a:spcPts val="80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r>
              <a:rPr lang="pt-PT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spc="-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pt-PT" sz="3200" spc="-5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reconhecem um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mais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corpos;</a:t>
            </a:r>
          </a:p>
          <a:p>
            <a:pPr marR="0" lvl="0" indent="-457200" algn="just">
              <a:spcBef>
                <a:spcPts val="8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conhecidos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identificados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através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</a:t>
            </a:r>
            <a:r>
              <a:rPr lang="pt-PT" sz="320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200" spc="-2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idade, nome do parente e contacto do parente;</a:t>
            </a:r>
            <a:endParaRPr lang="pt-PT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</a:t>
            </a:r>
            <a:r>
              <a:rPr lang="pt-PT" sz="32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identificados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através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raça,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altura</a:t>
            </a:r>
            <a:r>
              <a:rPr lang="pt-PT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marR="0" lvl="0" indent="0" algn="just">
              <a:spcBef>
                <a:spcPts val="800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r>
              <a:rPr lang="pt-PT" sz="32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pt-PT" sz="3200" spc="-2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marcas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pele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descrição</a:t>
            </a:r>
            <a:r>
              <a:rPr lang="pt-PT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</a:t>
            </a:r>
            <a:r>
              <a:rPr lang="pt-PT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vestes;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20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260383" y="760142"/>
            <a:ext cx="9671237" cy="5355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DESCRIÇÃO DO PROBLEMA (MINI MUNDO-Cont.)</a:t>
            </a:r>
            <a:endParaRPr lang="pt-BR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15063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body" idx="1"/>
          </p:nvPr>
        </p:nvSpPr>
        <p:spPr>
          <a:xfrm>
            <a:off x="838200" y="1496530"/>
            <a:ext cx="10515600" cy="448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R="0" lvl="0" indent="-457200" algn="just">
              <a:spcBef>
                <a:spcPts val="8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z="3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</a:t>
            </a: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vários</a:t>
            </a:r>
            <a:r>
              <a:rPr lang="pt-PT" sz="3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funcionários e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estes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têm,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</a:t>
            </a:r>
            <a:r>
              <a:rPr lang="pt-PT" sz="3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marR="0" lvl="0" indent="0" algn="just">
              <a:spcBef>
                <a:spcPts val="805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r>
              <a:rPr lang="pt-PT" sz="360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spc="-1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pt-PT" sz="3600" spc="-15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função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contacto;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74295" lvl="0" indent="-457200" algn="just">
              <a:lnSpc>
                <a:spcPct val="145000"/>
              </a:lnSpc>
              <a:spcBef>
                <a:spcPts val="8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Uma</a:t>
            </a:r>
            <a:r>
              <a:rPr lang="pt-PT" sz="36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6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várias</a:t>
            </a:r>
            <a:r>
              <a:rPr lang="pt-PT" sz="36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agências</a:t>
            </a:r>
            <a:r>
              <a:rPr lang="pt-PT" sz="36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funerárias</a:t>
            </a:r>
            <a:r>
              <a:rPr lang="pt-PT" sz="36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têm</a:t>
            </a:r>
            <a:r>
              <a:rPr lang="pt-PT" sz="36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vários</a:t>
            </a:r>
            <a:r>
              <a:rPr lang="pt-PT" sz="36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representantes</a:t>
            </a:r>
            <a:r>
              <a:rPr lang="pt-PT" sz="36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6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estes</a:t>
            </a:r>
            <a:r>
              <a:rPr lang="pt-PT" sz="36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possuem,</a:t>
            </a:r>
            <a:r>
              <a:rPr lang="pt-PT" sz="36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6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6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</a:t>
            </a:r>
            <a:r>
              <a:rPr lang="pt-PT" sz="36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6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contacto;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algn="just">
              <a:spcBef>
                <a:spcPts val="25"/>
              </a:spcBef>
              <a:spcAft>
                <a:spcPts val="0"/>
              </a:spcAft>
              <a:buNone/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5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z="3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possui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várias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câmaras;</a:t>
            </a:r>
          </a:p>
          <a:p>
            <a:pPr marR="0" lvl="0" indent="-457200" algn="just">
              <a:spcBef>
                <a:spcPts val="5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80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conservados</a:t>
            </a:r>
            <a:r>
              <a:rPr lang="pt-PT" sz="3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</a:t>
            </a: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várias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câmaras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6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número,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</a:t>
            </a:r>
          </a:p>
          <a:p>
            <a:pPr marL="0" marR="0" lvl="0" indent="0" algn="just">
              <a:spcBef>
                <a:spcPts val="805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r>
              <a:rPr lang="pt-PT" sz="36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pt-PT" sz="3600" spc="-1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conservação há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uma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taxa</a:t>
            </a:r>
            <a:r>
              <a:rPr lang="pt-PT" sz="3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pagar;</a:t>
            </a:r>
          </a:p>
          <a:p>
            <a:pPr marL="0" marR="0" lvl="0" indent="0" algn="just">
              <a:spcBef>
                <a:spcPts val="805"/>
              </a:spcBef>
              <a:spcAft>
                <a:spcPts val="0"/>
              </a:spcAft>
              <a:buNone/>
              <a:tabLst>
                <a:tab pos="520700" algn="l"/>
                <a:tab pos="521335" algn="l"/>
              </a:tabLst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79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possuem,</a:t>
            </a: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grau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parentesco,</a:t>
            </a:r>
            <a:r>
              <a:rPr lang="pt-PT" sz="3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endereço,</a:t>
            </a:r>
            <a:r>
              <a:rPr lang="pt-PT" sz="3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</a:t>
            </a:r>
            <a:r>
              <a:rPr lang="pt-PT" sz="3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6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código;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20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083252" y="716599"/>
            <a:ext cx="10025501" cy="5355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DESCRIÇÃO DO PROBLEMA (MINI MUNDO-Cont.)</a:t>
            </a:r>
            <a:endParaRPr lang="pt-BR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92D05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374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body" idx="1"/>
          </p:nvPr>
        </p:nvSpPr>
        <p:spPr>
          <a:xfrm>
            <a:off x="838200" y="1378773"/>
            <a:ext cx="10515600" cy="448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R="73025" indent="-457200" algn="just">
              <a:lnSpc>
                <a:spcPct val="145000"/>
              </a:lnSpc>
              <a:spcBef>
                <a:spcPts val="805"/>
              </a:spcBef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momento</a:t>
            </a:r>
            <a:r>
              <a:rPr lang="pt-PT" sz="33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</a:t>
            </a:r>
            <a:r>
              <a:rPr lang="pt-PT" sz="33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3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3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3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conservados nas câmaras</a:t>
            </a:r>
            <a:r>
              <a:rPr lang="pt-PT" sz="33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33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33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entrada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 registada e</a:t>
            </a:r>
            <a:r>
              <a:rPr lang="pt-PT" sz="33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 tem duração</a:t>
            </a:r>
            <a:r>
              <a:rPr lang="pt-PT" sz="33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33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conservação;</a:t>
            </a:r>
          </a:p>
          <a:p>
            <a:pPr marL="0" marR="73025" indent="0" algn="just">
              <a:lnSpc>
                <a:spcPct val="145000"/>
              </a:lnSpc>
              <a:spcBef>
                <a:spcPts val="805"/>
              </a:spcBef>
              <a:buNone/>
              <a:tabLst>
                <a:tab pos="520700" algn="l"/>
                <a:tab pos="521335" algn="l"/>
              </a:tabLst>
            </a:pP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72390" lvl="0" indent="-457200" algn="just">
              <a:lnSpc>
                <a:spcPct val="145000"/>
              </a:lnSpc>
              <a:spcBef>
                <a:spcPts val="8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desconhecidos,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passado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33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tempo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regulamentar</a:t>
            </a:r>
            <a:r>
              <a:rPr lang="pt-PT" sz="33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3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seu</a:t>
            </a:r>
            <a:r>
              <a:rPr lang="pt-PT" sz="3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reconhecimento</a:t>
            </a:r>
            <a:r>
              <a:rPr lang="pt-PT" sz="3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são</a:t>
            </a:r>
            <a:r>
              <a:rPr lang="pt-PT" sz="33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transferidos</a:t>
            </a:r>
            <a:r>
              <a:rPr lang="pt-PT" sz="3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</a:t>
            </a:r>
            <a:r>
              <a:rPr lang="pt-PT" sz="33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 comuns;</a:t>
            </a:r>
          </a:p>
          <a:p>
            <a:pPr marR="72390" lvl="0" indent="-457200" algn="just">
              <a:lnSpc>
                <a:spcPct val="145000"/>
              </a:lnSpc>
              <a:spcBef>
                <a:spcPts val="8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7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PT" sz="33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comuns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têm,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código,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endereço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contacto;</a:t>
            </a:r>
          </a:p>
          <a:p>
            <a:pPr marR="0" lvl="0" indent="-457200" algn="just">
              <a:spcBef>
                <a:spcPts val="7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indent="-457200" algn="just">
              <a:spcBef>
                <a:spcPts val="795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20700" algn="l"/>
                <a:tab pos="521335" algn="l"/>
              </a:tabLst>
            </a:pP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3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vários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desconhecidos,</a:t>
            </a:r>
            <a:r>
              <a:rPr lang="pt-PT" sz="33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podem ser</a:t>
            </a:r>
            <a:r>
              <a:rPr lang="pt-PT" sz="33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transferidos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</a:t>
            </a:r>
            <a:r>
              <a:rPr lang="pt-PT" sz="33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uma</a:t>
            </a:r>
            <a:r>
              <a:rPr lang="pt-PT" sz="33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33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várias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</a:t>
            </a:r>
            <a:r>
              <a:rPr lang="pt-PT" sz="33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comuns;</a:t>
            </a: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20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083251" y="760142"/>
            <a:ext cx="10025501" cy="5355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DESCRIÇÃO DO PROBLEMA (MINI MUNDO-Cont.)</a:t>
            </a:r>
            <a:endParaRPr lang="pt-BR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92D05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493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82" y="523342"/>
            <a:ext cx="9460524" cy="5453388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491214" y="163794"/>
            <a:ext cx="9209572" cy="5355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buClr>
                <a:schemeClr val="accent6"/>
              </a:buClr>
              <a:buSzPts val="4400"/>
            </a:pPr>
            <a:r>
              <a:rPr lang="en-US" sz="32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DIAGRAMA ENTIDADE RELACIONAMENTO.)</a:t>
            </a:r>
            <a:endParaRPr lang="pt-BR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92D05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36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MAPEAMENTO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indent="0">
              <a:buSzPct val="100000"/>
              <a:buNone/>
            </a:pP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contacto1,</a:t>
            </a:r>
            <a:r>
              <a:rPr lang="pt-PT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indent="0">
              <a:buSzPct val="100000"/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rgbClr val="00AFE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grauParentesco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contacto1, contacto2,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codFunc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dataNascimento,funcao,</a:t>
            </a:r>
            <a:r>
              <a:rPr lang="pt-PT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#codMor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,contacto1, contacto2,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pt-PT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Camara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numero,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#codMor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pt-PT" spc="-33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Representante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CodRepre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dataNascimento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contacto1, contacto2,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pt-PT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AgenciaFuneraria</a:t>
            </a:r>
            <a:r>
              <a:rPr lang="pt-PT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contacto1,</a:t>
            </a:r>
            <a:r>
              <a:rPr lang="pt-PT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MAPEAMENTO (Cont.)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221805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PT" sz="3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ValasComuns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3000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CodVala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contacto1,</a:t>
            </a:r>
            <a:r>
              <a:rPr lang="pt-PT" sz="3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z="3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221805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PT" sz="3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CorposParentes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#codCorp</a:t>
            </a:r>
            <a:r>
              <a:rPr lang="pt-PT" sz="3000" dirty="0">
                <a:solidFill>
                  <a:srgbClr val="00AF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#codParen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pt-PT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PT" sz="3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RepresentantesAgenciasFuneraria</a:t>
            </a:r>
            <a:r>
              <a:rPr lang="pt-PT" sz="3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solidFill>
                  <a:srgbClr val="00AF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(#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CodRepre,</a:t>
            </a:r>
            <a:r>
              <a:rPr lang="pt-PT" sz="3000" u="sng" spc="-50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pt-PT" sz="3000" u="sng" spc="-25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u="sng" dirty="0" err="1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pt-PT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ts val="16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3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#codCorp,</a:t>
            </a:r>
            <a:r>
              <a:rPr lang="pt-PT" sz="3000" u="sng" spc="-20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#codCam</a:t>
            </a:r>
            <a:r>
              <a:rPr lang="pt-PT" sz="3000" dirty="0">
                <a:solidFill>
                  <a:srgbClr val="00AF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25" dirty="0">
                <a:solidFill>
                  <a:srgbClr val="00AF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taxaConservacao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duracao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dataEntrada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ts val="16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pt-PT" sz="3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30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000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30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idade,</a:t>
            </a:r>
            <a:r>
              <a:rPr lang="pt-PT" sz="30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LocalMorte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HoraMorte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DataMorte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CausaMorte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0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0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#CodMor</a:t>
            </a:r>
            <a:r>
              <a:rPr lang="pt-PT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894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MAPEAMENTO (Cont.)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CorposDesconhecidos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u="sng" dirty="0" err="1">
                <a:solidFill>
                  <a:srgbClr val="00AFEF"/>
                </a:solidFill>
                <a:effectLst/>
                <a:uFill>
                  <a:solidFill>
                    <a:srgbClr val="00AFEF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altura,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marcasPele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descricaoVestes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LocalMorte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HoraMorte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DataMorte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CausaMorte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u="sng" spc="-15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#CodMor,</a:t>
            </a:r>
            <a:r>
              <a:rPr lang="pt-PT" sz="2400" u="sng" spc="-5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pt-PT" sz="2400" u="sng" spc="5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u="sng" dirty="0" err="1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CodVala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CorposConhecidosAgenciasFunerarias</a:t>
            </a:r>
            <a:r>
              <a:rPr lang="pt-PT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dirty="0">
                <a:solidFill>
                  <a:srgbClr val="00AF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pt-PT" sz="24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CodCorpo,</a:t>
            </a:r>
            <a:r>
              <a:rPr lang="pt-PT" sz="2400" u="sng" spc="-40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u="sng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pt-PT" sz="2400" u="sng" spc="-30" dirty="0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u="sng" dirty="0" err="1">
                <a:solidFill>
                  <a:srgbClr val="00AF50"/>
                </a:solidFill>
                <a:effectLst/>
                <a:uFill>
                  <a:solidFill>
                    <a:srgbClr val="00AF5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138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NORMALIZAC</a:t>
            </a:r>
            <a:r>
              <a:rPr lang="pt-PT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Ã</a:t>
            </a: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O (1FN)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445"/>
              </a:spcBef>
              <a:spcAft>
                <a:spcPts val="0"/>
              </a:spcAft>
              <a:buNone/>
            </a:pPr>
            <a:r>
              <a:rPr lang="pt-PT" sz="4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z="4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45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4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contacto1,</a:t>
            </a:r>
            <a:r>
              <a:rPr lang="pt-PT" sz="4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z="4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 avenida)</a:t>
            </a:r>
          </a:p>
          <a:p>
            <a:pPr marL="0" marR="0" indent="0">
              <a:spcBef>
                <a:spcPts val="445"/>
              </a:spcBef>
              <a:spcAft>
                <a:spcPts val="0"/>
              </a:spcAft>
              <a:buNone/>
            </a:pPr>
            <a:endParaRPr lang="en-US" sz="4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2027555" indent="0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pt-PT" sz="4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4500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</a:t>
            </a:r>
            <a:r>
              <a:rPr lang="pt-PT" sz="4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grauParentesco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contacto1, contacto2, rua, avenida)</a:t>
            </a:r>
            <a:r>
              <a:rPr lang="pt-PT" sz="45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2027555" indent="0">
              <a:lnSpc>
                <a:spcPct val="150000"/>
              </a:lnSpc>
              <a:spcBef>
                <a:spcPts val="820"/>
              </a:spcBef>
              <a:buNone/>
            </a:pPr>
            <a:r>
              <a:rPr lang="pt-PT" sz="4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4500" u="sng" dirty="0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codFunc</a:t>
            </a:r>
            <a:r>
              <a:rPr lang="pt-PT" sz="4500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nome,dataNascimento,funcao,contacto1, contacto2, rua, avenida)</a:t>
            </a:r>
          </a:p>
          <a:p>
            <a:pPr marL="0" marR="2027555" indent="0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pt-PT" sz="4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FuncionarioMorgue</a:t>
            </a:r>
            <a:r>
              <a:rPr lang="pt-PT" sz="4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45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codFunc</a:t>
            </a:r>
            <a:r>
              <a:rPr lang="pt-PT" sz="4500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45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</a:t>
            </a:r>
            <a:r>
              <a:rPr lang="pt-PT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4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85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NORMALIZAC</a:t>
            </a:r>
            <a:r>
              <a:rPr lang="pt-PT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Ã</a:t>
            </a: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O (1FN-Cont.)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3507105" indent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Camera</a:t>
            </a:r>
            <a:r>
              <a:rPr lang="pt-PT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2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sz="3200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numero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SzPct val="100000"/>
              <a:buNone/>
            </a:pPr>
            <a:endParaRPr lang="pt-PT" sz="3200" spc="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CameraMorgue</a:t>
            </a:r>
            <a:r>
              <a:rPr lang="pt-PT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2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sz="3200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200" u="sng" spc="-50" dirty="0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2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indent="0">
              <a:buSzPct val="100000"/>
              <a:buNone/>
            </a:pPr>
            <a:endParaRPr lang="pt-PT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Representante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32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CodRepre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</a:t>
            </a:r>
            <a:r>
              <a:rPr lang="pt-PT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dataNascimento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contacto1,</a:t>
            </a:r>
          </a:p>
          <a:p>
            <a:pPr marL="0" indent="0">
              <a:buSzPct val="100000"/>
              <a:buNone/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contacto2, rua, avenida)</a:t>
            </a:r>
            <a:r>
              <a:rPr lang="pt-PT" sz="32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SzPct val="100000"/>
              <a:buNone/>
            </a:pPr>
            <a:endParaRPr lang="pt-PT" sz="3200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AgenciaFuneraria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32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idade, contacto1, contacto2,</a:t>
            </a:r>
          </a:p>
          <a:p>
            <a:pPr marL="0" indent="0">
              <a:buSzPct val="100000"/>
              <a:buNone/>
            </a:pPr>
            <a:r>
              <a:rPr lang="pt-PT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rua, avenida)</a:t>
            </a:r>
            <a:r>
              <a:rPr lang="pt-PT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24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NORMALIZAC</a:t>
            </a:r>
            <a:r>
              <a:rPr lang="pt-PT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Ã</a:t>
            </a: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O (1FN-Cont.)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>
              <a:buSzPct val="100000"/>
              <a:buNone/>
            </a:pPr>
            <a:r>
              <a:rPr lang="pt-PT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ValasComuns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sz="36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CodVala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nome, contacto1, contacto2,</a:t>
            </a:r>
          </a:p>
          <a:p>
            <a:pPr marL="0" indent="0">
              <a:buSzPct val="100000"/>
              <a:buNone/>
            </a:pP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rua, avenida)</a:t>
            </a:r>
          </a:p>
          <a:p>
            <a:pPr marL="0" indent="0">
              <a:buSzPct val="100000"/>
              <a:buNone/>
            </a:pPr>
            <a:endParaRPr lang="pt-PT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CorposParentes</a:t>
            </a:r>
            <a:r>
              <a:rPr lang="pt-PT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6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r>
              <a:rPr lang="pt-PT" sz="3600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600" spc="-10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indent="0">
              <a:buSzPct val="100000"/>
              <a:buNone/>
            </a:pPr>
            <a:endParaRPr lang="pt-PT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RepresentantesAgenciasFuneraria</a:t>
            </a:r>
            <a:r>
              <a:rPr lang="pt-PT" sz="36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600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CodRepre,CodAgen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3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SzPct val="100000"/>
              <a:buNone/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36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r>
              <a:rPr lang="pt-PT" sz="3600" u="sng" dirty="0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600" u="sng" spc="-30" dirty="0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sz="3600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600" spc="-45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taxaConservacao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indent="0">
              <a:buSzPct val="100000"/>
              <a:buNone/>
            </a:pPr>
            <a:r>
              <a:rPr lang="pt-PT" sz="3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duracao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36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dataEntrada</a:t>
            </a:r>
            <a:r>
              <a:rPr lang="pt-PT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05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NORMALIZAC</a:t>
            </a:r>
            <a:r>
              <a:rPr lang="pt-PT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Ã</a:t>
            </a: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O (1FN-Cont.)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indent="0">
              <a:buSzPct val="100000"/>
              <a:buNone/>
            </a:pP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idade,</a:t>
            </a:r>
            <a:r>
              <a:rPr lang="pt-PT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indent="0">
              <a:buSzPct val="100000"/>
              <a:buNone/>
            </a:pP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SzPct val="100000"/>
              <a:buNone/>
            </a:pPr>
            <a:endParaRPr lang="pt-PT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CorposConhecidosMorgue</a:t>
            </a:r>
            <a:r>
              <a:rPr lang="pt-P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indent="0">
              <a:buSzPct val="100000"/>
              <a:buNone/>
            </a:pPr>
            <a:endParaRPr lang="pt-PT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CorposDesconhecidos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altura,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marcasPele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descricaoVestes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CausaMorte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31595" indent="0">
              <a:lnSpc>
                <a:spcPct val="15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pt-PT" b="1" spc="-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CorposDesconhecidosValaMorgue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</a:t>
            </a:r>
            <a:r>
              <a:rPr lang="pt-PT" dirty="0" err="1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CodMor,CodVala</a:t>
            </a:r>
            <a:r>
              <a:rPr lang="pt-PT" dirty="0">
                <a:solidFill>
                  <a:srgbClr val="4AACC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1331595" indent="0">
              <a:lnSpc>
                <a:spcPct val="150000"/>
              </a:lnSpc>
              <a:spcBef>
                <a:spcPts val="445"/>
              </a:spcBef>
              <a:spcAft>
                <a:spcPts val="0"/>
              </a:spcAft>
              <a:buNone/>
            </a:pPr>
            <a:endParaRPr lang="pt-PT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31595" indent="0">
              <a:lnSpc>
                <a:spcPct val="15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CorposConhecidosAgenciasFunerarias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u="sng" dirty="0" err="1">
                <a:solidFill>
                  <a:srgbClr val="4AACC5"/>
                </a:solidFill>
                <a:effectLst/>
                <a:uFill>
                  <a:solidFill>
                    <a:srgbClr val="4AACC5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CodCorpo,CodAgen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917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NORMALIZAC</a:t>
            </a:r>
            <a:r>
              <a:rPr lang="pt-PT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Ã</a:t>
            </a: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O 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59230" marR="1743710" indent="0" algn="ctr">
              <a:spcBef>
                <a:spcPts val="127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(2FN)</a:t>
            </a:r>
            <a:r>
              <a:rPr lang="pt-PT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/(3FN)</a:t>
            </a:r>
            <a:endParaRPr lang="en-US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Primeira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já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encontra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 Segunda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 e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Terceira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</a:t>
            </a:r>
            <a:r>
              <a:rPr lang="pt-PT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Normal.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Não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havendo</a:t>
            </a:r>
            <a:r>
              <a:rPr lang="pt-PT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assim</a:t>
            </a:r>
            <a:r>
              <a:rPr lang="pt-PT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necessidade de transformação.</a:t>
            </a:r>
            <a:r>
              <a:rPr lang="pt-PT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(1FN</a:t>
            </a:r>
            <a:r>
              <a:rPr lang="pt-PT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2FN</a:t>
            </a:r>
            <a:r>
              <a:rPr lang="pt-PT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3FN)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169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LISTA DE CONSULTAS 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>
              <a:spcBef>
                <a:spcPts val="10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Conhecidos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cuja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entrada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morgue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foi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 de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02/05/2014;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9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Mostrar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todas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valas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comuns;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925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código 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etária dos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conhecidos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cujo</a:t>
            </a:r>
            <a:r>
              <a:rPr lang="pt-PT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género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sexo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masculino;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16585" lvl="0" indent="-34290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etária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cuja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entrada foi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04/01/2016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-3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género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sexo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feminino;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Mostrar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 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primeiro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todos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desconhecidos;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9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 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funcionários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cujo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função seja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diretora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geral;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83185" lvl="0" indent="-34290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 o código, nome e o segundo contacto dos representantes da agência cuja sua avenida seja</a:t>
            </a:r>
            <a:r>
              <a:rPr lang="pt-PT" sz="1800" spc="-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avenida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 moçambique;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todas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camaras</a:t>
            </a:r>
            <a:r>
              <a:rPr lang="pt-PT" sz="1800" spc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pt-PT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pt-PT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PT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43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21335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pt-PT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código das</a:t>
            </a:r>
            <a:r>
              <a:rPr lang="pt-PT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camaras em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números são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PT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</a:t>
            </a:r>
            <a:r>
              <a:rPr lang="pt-PT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8;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920"/>
              </a:spcBef>
              <a:spcAft>
                <a:spcPts val="0"/>
              </a:spcAft>
              <a:buSzPts val="1600"/>
              <a:buFont typeface="Times New Roman" panose="02020603050405020304" pitchFamily="18" charset="0"/>
              <a:buAutoNum type="arabicPeriod"/>
              <a:tabLst>
                <a:tab pos="563880" algn="l"/>
              </a:tabLst>
            </a:pP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Listar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contacto1,</a:t>
            </a:r>
            <a:r>
              <a:rPr lang="pt-PT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avenida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pt-PT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AgenciaFuneraria</a:t>
            </a:r>
            <a:r>
              <a:rPr lang="pt-PT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176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endParaRPr lang="en-US" sz="4800" b="1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smtClean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 smtClean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2027555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</a:t>
            </a:r>
            <a:r>
              <a:rPr lang="pt-PT" sz="2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pt-PT" sz="2600" spc="3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2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⊠</a:t>
            </a:r>
            <a:r>
              <a:rPr lang="pt-PT" sz="2600" spc="3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PT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PT" sz="26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endParaRPr lang="pt-PT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2027555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2027555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26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t2</a:t>
            </a:r>
            <a:r>
              <a:rPr lang="pt-PT" sz="2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pt-PT" sz="2600" spc="3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</a:t>
            </a:r>
            <a:r>
              <a:rPr lang="pt-PT" sz="2600" spc="4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dataEntrada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</a:t>
            </a:r>
            <a:r>
              <a:rPr lang="pt-PT" sz="2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‘2014-05-02’(t1))</a:t>
            </a:r>
          </a:p>
          <a:p>
            <a:pPr marL="13335" marR="2027555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600" b="0" spc="2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CodCorpo,</a:t>
            </a:r>
            <a:r>
              <a:rPr lang="pt-PT" sz="26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idade,</a:t>
            </a:r>
            <a:r>
              <a:rPr lang="pt-PT" sz="2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genero,</a:t>
            </a:r>
            <a:r>
              <a:rPr lang="pt-PT" sz="26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faixaEtaria,</a:t>
            </a:r>
            <a:r>
              <a:rPr lang="pt-PT" sz="2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LocalMorte,</a:t>
            </a:r>
            <a:r>
              <a:rPr lang="pt-PT" sz="26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HoraMorte,</a:t>
            </a:r>
            <a:r>
              <a:rPr lang="pt-PT" sz="2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CausaMorte,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1" spc="-1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DataMorte</a:t>
            </a: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(t2)</a:t>
            </a:r>
            <a:endParaRPr lang="en-US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78105" indent="0">
              <a:spcBef>
                <a:spcPts val="0"/>
              </a:spcBef>
              <a:spcAft>
                <a:spcPts val="0"/>
              </a:spcAft>
              <a:buNone/>
              <a:tabLst>
                <a:tab pos="1343660" algn="l"/>
                <a:tab pos="2861945" algn="l"/>
                <a:tab pos="4045585" algn="l"/>
                <a:tab pos="5326380" algn="l"/>
                <a:tab pos="6952615" algn="l"/>
              </a:tabLst>
            </a:pP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	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ccam.codCorpo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ccam.idade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ccam.genero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ccam.faixaEtaria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sz="2600" spc="-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ccam.LocalMorte</a:t>
            </a:r>
            <a:endParaRPr lang="pt-PT" sz="26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78105" indent="0">
              <a:spcBef>
                <a:spcPts val="0"/>
              </a:spcBef>
              <a:spcAft>
                <a:spcPts val="0"/>
              </a:spcAft>
              <a:buNone/>
              <a:tabLst>
                <a:tab pos="1343660" algn="l"/>
                <a:tab pos="2861945" algn="l"/>
                <a:tab pos="4045585" algn="l"/>
                <a:tab pos="5326380" algn="l"/>
                <a:tab pos="6952615" algn="l"/>
              </a:tabLst>
            </a:pPr>
            <a:endParaRPr lang="pt-PT" sz="2600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78105" indent="0">
              <a:spcBef>
                <a:spcPts val="0"/>
              </a:spcBef>
              <a:spcAft>
                <a:spcPts val="0"/>
              </a:spcAft>
              <a:buNone/>
              <a:tabLst>
                <a:tab pos="1343660" algn="l"/>
                <a:tab pos="2861945" algn="l"/>
                <a:tab pos="4045585" algn="l"/>
                <a:tab pos="5326380" algn="l"/>
                <a:tab pos="6952615" algn="l"/>
              </a:tabLst>
            </a:pPr>
            <a:r>
              <a:rPr lang="pt-PT" sz="26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ccam.HoraMorte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ccam.CausaMorte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cc.dataMorte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" marR="0" indent="0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2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600" spc="3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</a:t>
            </a:r>
            <a:endParaRPr lang="pt-PT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" marR="0" indent="0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600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ccam.codCorp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cc.codCorp</a:t>
            </a:r>
            <a:r>
              <a:rPr lang="pt-PT" sz="2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pt-PT" sz="2600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cc.dataMorte</a:t>
            </a:r>
            <a:r>
              <a:rPr lang="pt-PT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=‘2014-05-02’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90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10"/>
              </a:spcBef>
              <a:buNone/>
            </a:pPr>
            <a:r>
              <a:rPr lang="pt-PT" sz="240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spc="-5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CodVala</a:t>
            </a:r>
            <a:r>
              <a:rPr lang="pt-PT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(ValasComuns)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5"/>
              </a:spcBef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CodVala</a:t>
            </a:r>
            <a:r>
              <a:rPr lang="pt-PT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ValasComuns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3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</a:t>
            </a:r>
            <a:r>
              <a:rPr lang="pt-PT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pt-PT" sz="2400" spc="2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</a:t>
            </a:r>
            <a:r>
              <a:rPr lang="pt-PT" sz="2400" spc="3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genero</a:t>
            </a:r>
            <a:r>
              <a:rPr lang="pt-PT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‘M’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spc="25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CodCorpo,faixaEtaria(t1)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02666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CC.codCorpo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CC.faixaEtaria</a:t>
            </a:r>
            <a:endParaRPr lang="pt-P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02666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02666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CC</a:t>
            </a:r>
          </a:p>
          <a:p>
            <a:pPr marL="13335" marR="502666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CC.genero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=‘M’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790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</a:t>
            </a:r>
            <a:r>
              <a:rPr lang="pt-PT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←</a:t>
            </a:r>
            <a:r>
              <a:rPr lang="pt-PT" sz="2400" spc="25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⊠</a:t>
            </a:r>
            <a:r>
              <a:rPr lang="pt-PT" sz="2400" spc="25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codCorp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3507105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t2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t1.dataEntrada = ‘2016-01-04’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t1.genero =</a:t>
            </a:r>
          </a:p>
          <a:p>
            <a:pPr marL="13335" marR="3507105" indent="0">
              <a:spcBef>
                <a:spcPts val="5"/>
              </a:spcBef>
              <a:spcAft>
                <a:spcPts val="0"/>
              </a:spcAft>
              <a:buNone/>
            </a:pPr>
            <a:endParaRPr lang="pt-PT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3507105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‘F’)</a:t>
            </a:r>
            <a:r>
              <a:rPr lang="pt-PT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pt-PT" sz="2400" spc="-335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3507105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spc="35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faixaEtaria(t2)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ccam.faixaEtaria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cc.dataMorte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" marR="0" indent="0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CorposCamera</a:t>
            </a:r>
            <a:r>
              <a:rPr lang="pt-PT" sz="2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200" spc="3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CorposConhecidos</a:t>
            </a:r>
            <a:r>
              <a:rPr lang="pt-PT" sz="2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</a:t>
            </a:r>
            <a:endParaRPr lang="pt-PT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" marR="0" indent="0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200" spc="3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ccam.codCorp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cc.codCorp</a:t>
            </a:r>
            <a:r>
              <a:rPr lang="pt-PT" sz="2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pt-PT" sz="2200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cc.dataMorte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=‘2014-05-02’</a:t>
            </a:r>
            <a:r>
              <a:rPr lang="pt-PT" sz="2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pt-PT" sz="2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cc.genero</a:t>
            </a:r>
            <a:r>
              <a:rPr lang="pt-PT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=‘F’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291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</a:t>
            </a:r>
            <a:r>
              <a:rPr lang="pt-PT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pt-PT" sz="2400" spc="7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𝑷𝒂𝒓𝒆𝒏𝒕𝒆𝒔</a:t>
            </a:r>
            <a:r>
              <a:rPr lang="pt-PT" sz="2400" spc="-1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𝑷</a:t>
            </a:r>
            <a:r>
              <a:rPr lang="pt-PT" sz="2400" spc="3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⊠ 𝑷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pt-PT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CP.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pt-PT" sz="2400" b="1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CorposParentes</a:t>
            </a:r>
            <a:r>
              <a:rPr lang="pt-PT" sz="24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spc="35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codParen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contacto1</a:t>
            </a:r>
            <a:r>
              <a:rPr lang="en-US" sz="24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(t1)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8615" marR="5026660" indent="0">
              <a:lnSpc>
                <a:spcPct val="2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CP.codParen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2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P.Contacto1</a:t>
            </a:r>
            <a:r>
              <a:rPr lang="en-US" sz="22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8615" marR="5026660" indent="0">
              <a:lnSpc>
                <a:spcPct val="2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2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CorposParentes</a:t>
            </a:r>
            <a:r>
              <a:rPr lang="en-US" sz="22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CP,</a:t>
            </a:r>
            <a:r>
              <a:rPr lang="en-US" sz="2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Parentes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</a:t>
            </a:r>
          </a:p>
          <a:p>
            <a:pPr marL="0" marR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WHERE</a:t>
            </a:r>
            <a:r>
              <a:rPr lang="en-US" sz="2200" b="1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ccam.codCorp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cc.codCorp</a:t>
            </a:r>
            <a:endParaRPr lang="en-US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764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10"/>
              </a:spcBef>
              <a:buNone/>
            </a:pPr>
            <a:r>
              <a:rPr lang="pt-PT" sz="2400" spc="3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codFunc,</a:t>
            </a:r>
            <a:r>
              <a:rPr lang="pt-PT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</a:t>
            </a:r>
            <a:r>
              <a:rPr lang="pt-PT" sz="24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</a:t>
            </a:r>
            <a:r>
              <a:rPr lang="pt-PT" sz="2400" spc="4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funcao =</a:t>
            </a:r>
            <a:r>
              <a:rPr lang="pt-PT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‘diretora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geral’(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884545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F.codFunc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F.nome</a:t>
            </a:r>
            <a:r>
              <a:rPr lang="pt-PT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</a:p>
          <a:p>
            <a:pPr marL="13335" marR="5884545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F.funcao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=‘diretora</a:t>
            </a:r>
            <a:r>
              <a:rPr lang="pt-PT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geral’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21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15"/>
              </a:spcBef>
              <a:buNone/>
            </a:pPr>
            <a:r>
              <a:rPr lang="pt-PT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CodRepre</a:t>
            </a:r>
            <a:r>
              <a:rPr lang="pt-PT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</a:t>
            </a:r>
            <a:r>
              <a:rPr lang="pt-PT" sz="20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</a:t>
            </a:r>
            <a:r>
              <a:rPr lang="pt-PT" sz="2000" spc="3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avenida</a:t>
            </a:r>
            <a:r>
              <a:rPr lang="pt-PT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‘avenida</a:t>
            </a:r>
            <a:r>
              <a:rPr lang="pt-PT" sz="2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mocambique’(</a:t>
            </a:r>
            <a:r>
              <a:rPr lang="pt-PT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32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51815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F.codRepre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F.contacto2</a:t>
            </a:r>
            <a:r>
              <a:rPr lang="pt-PT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13335" marR="5518150" indent="0">
              <a:spcBef>
                <a:spcPts val="15"/>
              </a:spcBef>
              <a:spcAft>
                <a:spcPts val="0"/>
              </a:spcAft>
              <a:buNone/>
            </a:pPr>
            <a:endParaRPr lang="pt-PT" sz="2400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551815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Funcionario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</a:p>
          <a:p>
            <a:pPr marL="13335" marR="551815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F.avenida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=‘</a:t>
            </a:r>
            <a:r>
              <a:rPr lang="pt-PT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avenida</a:t>
            </a:r>
            <a:r>
              <a:rPr lang="pt-PT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pt-PT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mocambique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70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15"/>
              </a:spcBef>
              <a:buNone/>
            </a:pPr>
            <a:r>
              <a:rPr lang="pt-PT" sz="240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spc="-10" dirty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CodCam(Camera)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5"/>
              </a:spcBef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(Camara)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51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10"/>
              </a:spcBef>
              <a:buNone/>
            </a:pPr>
            <a:r>
              <a:rPr lang="pt-PT" sz="240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spc="3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codCam</a:t>
            </a:r>
            <a:r>
              <a:rPr lang="pt-PT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((</a:t>
            </a:r>
            <a:r>
              <a:rPr lang="pt-PT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𝝈</a:t>
            </a:r>
            <a:r>
              <a:rPr lang="pt-PT" sz="2400" spc="3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numero</a:t>
            </a:r>
            <a:r>
              <a:rPr lang="pt-PT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‘5’(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Camara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pt-PT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numero =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‘8’(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Camara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654812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C.codCam</a:t>
            </a:r>
            <a:r>
              <a:rPr lang="en-US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13335" marR="654812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400" spc="-33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6548120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Camera C</a:t>
            </a:r>
          </a:p>
          <a:p>
            <a:pPr marL="13335" marR="654812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C.numero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</a:t>
            </a:r>
            <a:r>
              <a:rPr lang="pt-PT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‘5’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C.numero</a:t>
            </a:r>
            <a:r>
              <a:rPr lang="pt-PT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pt-PT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‘8’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1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CONSULTAS – ALGEBRA &amp; SQL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pt-PT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r>
              <a:rPr lang="pt-PT" sz="26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Algebra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Racional:</a:t>
            </a:r>
          </a:p>
          <a:p>
            <a:pPr marL="13335" marR="0" indent="0">
              <a:spcBef>
                <a:spcPts val="1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15"/>
              </a:spcBef>
              <a:buNone/>
            </a:pPr>
            <a:r>
              <a:rPr lang="pt-PT" sz="2400" b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t1</a:t>
            </a:r>
            <a:r>
              <a:rPr lang="pt-PT" sz="2400" b="0" spc="-3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pt-PT" sz="2400" b="0" spc="2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PT" sz="2400" b="0" smtClean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CodAgen,</a:t>
            </a:r>
            <a:r>
              <a:rPr lang="pt-PT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nome,contacto1,</a:t>
            </a:r>
            <a:r>
              <a:rPr lang="pt-PT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rua,avenida (AgenciaFuneraria)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15"/>
              </a:spcBef>
              <a:spcAft>
                <a:spcPts val="0"/>
              </a:spcAft>
              <a:buNone/>
            </a:pP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pt-PT" sz="2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pt-PT" sz="2600" b="1" spc="-15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600" b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indent="0">
              <a:spcBef>
                <a:spcPts val="5"/>
              </a:spcBef>
              <a:buNone/>
            </a:pPr>
            <a:r>
              <a:rPr lang="pt-PT" sz="24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pt-PT" sz="2400" b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CodAgen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PT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nome,contacto1,</a:t>
            </a:r>
            <a:r>
              <a:rPr lang="pt-PT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contacto2,</a:t>
            </a:r>
            <a:r>
              <a:rPr lang="pt-PT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rua,</a:t>
            </a:r>
            <a:r>
              <a:rPr lang="pt-PT" sz="24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24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pt-PT" sz="24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PT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AgenciaFuneraria</a:t>
            </a:r>
            <a:r>
              <a:rPr lang="pt-PT" sz="24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416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777022" y="1943099"/>
            <a:ext cx="10831133" cy="4533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lt1"/>
              </a:buClr>
              <a:buSzPts val="11000"/>
            </a:pPr>
            <a:r>
              <a:rPr lang="en-US" sz="11500" b="1" i="1" dirty="0" err="1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Gatilhos</a:t>
            </a:r>
            <a:r>
              <a:rPr lang="en-US" sz="11500" b="1" i="1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e </a:t>
            </a:r>
            <a:r>
              <a:rPr lang="en-US" sz="11500" b="1" i="1" dirty="0" err="1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Procedimentos</a:t>
            </a:r>
            <a: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/>
            </a:r>
            <a:b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44952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 smtClean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TRIGGERS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indent="0">
              <a:spcBef>
                <a:spcPts val="0"/>
              </a:spcBef>
              <a:buNone/>
            </a:pPr>
            <a:r>
              <a:rPr lang="pt-PT" sz="4800" dirty="0" smtClean="0"/>
              <a:t>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que não permite a inserção de corpos </a:t>
            </a: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conhecidos cuja 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da morte seja menor que zero: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4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741931"/>
            <a:ext cx="9829800" cy="251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 smtClean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TRIGGERS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indent="0">
              <a:spcBef>
                <a:spcPts val="0"/>
              </a:spcBef>
              <a:buNone/>
            </a:pPr>
            <a:r>
              <a:rPr lang="pt-PT" b="1" dirty="0" smtClean="0"/>
              <a:t>2-Trigger </a:t>
            </a:r>
            <a:r>
              <a:rPr lang="pt-PT" b="1" dirty="0"/>
              <a:t>para actualizar um funcionario cada ves que é inserido </a:t>
            </a:r>
            <a:r>
              <a:rPr lang="pt-PT" b="1" dirty="0" smtClean="0"/>
              <a:t>e </a:t>
            </a:r>
            <a:r>
              <a:rPr lang="pt-PT" b="1" dirty="0"/>
              <a:t>para actualizar cada vez que é removido</a:t>
            </a:r>
            <a:endParaRPr lang="pt-PT" sz="14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7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6200" y="2671338"/>
            <a:ext cx="9690100" cy="234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32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r>
              <a:rPr lang="en-US" b="1" dirty="0" smtClean="0">
                <a:solidFill>
                  <a:schemeClr val="accent6"/>
                </a:solidFill>
                <a:latin typeface="Lato"/>
                <a:cs typeface="Lato"/>
                <a:sym typeface="Lato"/>
              </a:rPr>
              <a:t>PROCEDURES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 do Sistema de Gestão de Morgue do HCM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38200" y="1083525"/>
            <a:ext cx="1037589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smtClean="0"/>
              <a:t>2-Procedimento </a:t>
            </a:r>
            <a:r>
              <a:rPr lang="pt-BR" sz="1600" dirty="0"/>
              <a:t>para inserção de corpos desconhecidos: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Delimiter</a:t>
            </a:r>
            <a:r>
              <a:rPr lang="pt-BR" sz="1600" dirty="0"/>
              <a:t> //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Create</a:t>
            </a:r>
            <a:r>
              <a:rPr lang="pt-BR" sz="1600" dirty="0"/>
              <a:t> procedure </a:t>
            </a:r>
            <a:r>
              <a:rPr lang="pt-BR" sz="1600" dirty="0" err="1"/>
              <a:t>proc_Insert_CorpoDesconhecido</a:t>
            </a:r>
            <a:r>
              <a:rPr lang="pt-BR" sz="1600" dirty="0"/>
              <a:t>(</a:t>
            </a:r>
            <a:r>
              <a:rPr lang="pt-BR" sz="1600" dirty="0" err="1"/>
              <a:t>CodCorpo</a:t>
            </a:r>
            <a:r>
              <a:rPr lang="pt-BR" sz="1600" dirty="0"/>
              <a:t> </a:t>
            </a:r>
            <a:r>
              <a:rPr lang="pt-BR" sz="1600" dirty="0" err="1"/>
              <a:t>int</a:t>
            </a:r>
            <a:r>
              <a:rPr lang="pt-BR" sz="1600" dirty="0"/>
              <a:t>(6), </a:t>
            </a:r>
            <a:r>
              <a:rPr lang="pt-BR" sz="1600" dirty="0" err="1"/>
              <a:t>raca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(10), altura </a:t>
            </a:r>
            <a:r>
              <a:rPr lang="pt-BR" sz="1600" dirty="0" err="1"/>
              <a:t>float</a:t>
            </a:r>
            <a:r>
              <a:rPr lang="pt-BR" sz="1600" dirty="0"/>
              <a:t>(3), </a:t>
            </a:r>
            <a:r>
              <a:rPr lang="pt-BR" sz="1600" dirty="0" err="1"/>
              <a:t>marcasPele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(40), </a:t>
            </a:r>
            <a:r>
              <a:rPr lang="pt-BR" sz="1600" dirty="0" err="1"/>
              <a:t>descricaoVestes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(40), </a:t>
            </a:r>
            <a:r>
              <a:rPr lang="pt-BR" sz="1600" dirty="0" err="1"/>
              <a:t>genero</a:t>
            </a:r>
            <a:r>
              <a:rPr lang="pt-BR" sz="1600" dirty="0"/>
              <a:t> char, </a:t>
            </a:r>
            <a:r>
              <a:rPr lang="pt-BR" sz="1600" dirty="0" err="1"/>
              <a:t>faixaEtaria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(40), </a:t>
            </a:r>
            <a:r>
              <a:rPr lang="pt-BR" sz="1600" dirty="0" err="1"/>
              <a:t>LocalMorte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(40), </a:t>
            </a:r>
            <a:r>
              <a:rPr lang="pt-BR" sz="1600" dirty="0" err="1"/>
              <a:t>HoraMorte</a:t>
            </a:r>
            <a:r>
              <a:rPr lang="pt-BR" sz="1600" dirty="0"/>
              <a:t> time, </a:t>
            </a:r>
            <a:r>
              <a:rPr lang="pt-BR" sz="1600" dirty="0" err="1"/>
              <a:t>DataMorte</a:t>
            </a:r>
            <a:r>
              <a:rPr lang="pt-BR" sz="1600" dirty="0"/>
              <a:t> date, </a:t>
            </a:r>
            <a:r>
              <a:rPr lang="pt-BR" sz="1600" dirty="0" err="1"/>
              <a:t>CausaMorte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(40)) 32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/>
              <a:t>Begin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If</a:t>
            </a:r>
            <a:r>
              <a:rPr lang="pt-BR" sz="1600" dirty="0"/>
              <a:t>((</a:t>
            </a:r>
            <a:r>
              <a:rPr lang="pt-BR" sz="1600" dirty="0" err="1"/>
              <a:t>CodCorpo</a:t>
            </a:r>
            <a:r>
              <a:rPr lang="pt-BR" sz="1600" dirty="0"/>
              <a:t> != ‘’)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CodCorpo</a:t>
            </a:r>
            <a:r>
              <a:rPr lang="pt-BR" sz="1600" dirty="0"/>
              <a:t> &gt; 0)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raca</a:t>
            </a:r>
            <a:r>
              <a:rPr lang="pt-BR" sz="1600" dirty="0"/>
              <a:t> != ‘ ’) </a:t>
            </a:r>
            <a:r>
              <a:rPr lang="pt-BR" sz="1600" dirty="0" err="1"/>
              <a:t>and</a:t>
            </a:r>
            <a:r>
              <a:rPr lang="pt-BR" sz="1600" dirty="0"/>
              <a:t> (altura != ‘ 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marcasPele</a:t>
            </a:r>
            <a:r>
              <a:rPr lang="pt-BR" sz="1600" dirty="0"/>
              <a:t> != ‘ 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descricaoVestes</a:t>
            </a:r>
            <a:r>
              <a:rPr lang="pt-BR" sz="1600" dirty="0"/>
              <a:t> != ‘’)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faixaEtaria</a:t>
            </a:r>
            <a:r>
              <a:rPr lang="pt-BR" sz="1600" dirty="0"/>
              <a:t> != ‘’)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LocalMorte</a:t>
            </a:r>
            <a:r>
              <a:rPr lang="pt-BR" sz="1600" dirty="0"/>
              <a:t> != ‘’) </a:t>
            </a:r>
            <a:r>
              <a:rPr lang="pt-BR" sz="1600" dirty="0" err="1"/>
              <a:t>and</a:t>
            </a:r>
            <a:r>
              <a:rPr lang="pt-BR" sz="1600" dirty="0"/>
              <a:t> (</a:t>
            </a:r>
            <a:r>
              <a:rPr lang="pt-BR" sz="1600" dirty="0" err="1"/>
              <a:t>CausaMorte</a:t>
            </a:r>
            <a:r>
              <a:rPr lang="pt-BR" sz="1600" dirty="0"/>
              <a:t> != ‘’)) </a:t>
            </a:r>
            <a:r>
              <a:rPr lang="pt-BR" sz="1600" dirty="0" err="1"/>
              <a:t>then</a:t>
            </a:r>
            <a:r>
              <a:rPr lang="pt-BR" sz="1600" dirty="0"/>
              <a:t>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Insert</a:t>
            </a:r>
            <a:r>
              <a:rPr lang="pt-BR" sz="1600" dirty="0"/>
              <a:t> </a:t>
            </a:r>
            <a:r>
              <a:rPr lang="pt-BR" sz="1600" dirty="0" err="1"/>
              <a:t>into</a:t>
            </a:r>
            <a:r>
              <a:rPr lang="pt-BR" sz="1600" dirty="0"/>
              <a:t> </a:t>
            </a:r>
            <a:r>
              <a:rPr lang="pt-BR" sz="1600" dirty="0" err="1"/>
              <a:t>CorpoConhecido</a:t>
            </a:r>
            <a:r>
              <a:rPr lang="pt-BR" sz="1600" dirty="0"/>
              <a:t> </a:t>
            </a:r>
            <a:r>
              <a:rPr lang="pt-BR" sz="1600" dirty="0" smtClean="0"/>
              <a:t>(                                                                                                                                                                         </a:t>
            </a:r>
            <a:r>
              <a:rPr lang="pt-BR" sz="1600" dirty="0" err="1" smtClean="0"/>
              <a:t>kp</a:t>
            </a:r>
            <a:r>
              <a:rPr lang="pt-BR" sz="1600" dirty="0" smtClean="0"/>
              <a:t>                                                       </a:t>
            </a:r>
            <a:r>
              <a:rPr lang="pt-PT" sz="1600" dirty="0" smtClean="0"/>
              <a:t>                                                                                                                                         </a:t>
            </a:r>
            <a:r>
              <a:rPr lang="pt-BR" sz="1600" dirty="0" err="1" smtClean="0"/>
              <a:t>varchar</a:t>
            </a:r>
            <a:r>
              <a:rPr lang="pt-BR" sz="1600" dirty="0"/>
              <a:t>, </a:t>
            </a:r>
            <a:r>
              <a:rPr lang="pt-BR" sz="1600" dirty="0" err="1"/>
              <a:t>genero</a:t>
            </a:r>
            <a:r>
              <a:rPr lang="pt-BR" sz="1600" dirty="0"/>
              <a:t> char, </a:t>
            </a:r>
            <a:r>
              <a:rPr lang="pt-BR" sz="1600" dirty="0" err="1"/>
              <a:t>faixaEtaria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, </a:t>
            </a:r>
            <a:r>
              <a:rPr lang="pt-BR" sz="1600" dirty="0" err="1"/>
              <a:t>LocalMorte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, </a:t>
            </a:r>
            <a:r>
              <a:rPr lang="pt-BR" sz="1600" dirty="0" err="1"/>
              <a:t>HoraMorte</a:t>
            </a:r>
            <a:r>
              <a:rPr lang="pt-BR" sz="1600" dirty="0"/>
              <a:t> time, </a:t>
            </a:r>
            <a:r>
              <a:rPr lang="pt-BR" sz="1600" dirty="0" err="1"/>
              <a:t>DataMorte</a:t>
            </a:r>
            <a:r>
              <a:rPr lang="pt-BR" sz="1600" dirty="0"/>
              <a:t> date, </a:t>
            </a:r>
            <a:r>
              <a:rPr lang="pt-BR" sz="1600" dirty="0" err="1"/>
              <a:t>CausaMorte</a:t>
            </a:r>
            <a:r>
              <a:rPr lang="pt-BR" sz="1600" dirty="0"/>
              <a:t> </a:t>
            </a:r>
            <a:r>
              <a:rPr lang="pt-BR" sz="1600" dirty="0" err="1"/>
              <a:t>varchar</a:t>
            </a:r>
            <a:r>
              <a:rPr lang="pt-BR" sz="1600" dirty="0"/>
              <a:t>);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Else</a:t>
            </a:r>
            <a:r>
              <a:rPr lang="pt-BR" sz="1600" dirty="0"/>
              <a:t>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Select</a:t>
            </a:r>
            <a:r>
              <a:rPr lang="pt-BR" sz="1600" dirty="0"/>
              <a:t> ‘algum dado </a:t>
            </a:r>
            <a:r>
              <a:rPr lang="pt-BR" sz="1600" dirty="0" err="1"/>
              <a:t>nao</a:t>
            </a:r>
            <a:r>
              <a:rPr lang="pt-BR" sz="1600" dirty="0"/>
              <a:t> fornecido tente novamente’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/>
              <a:t>As </a:t>
            </a:r>
            <a:r>
              <a:rPr lang="pt-BR" sz="1600" dirty="0" err="1"/>
              <a:t>Msg</a:t>
            </a:r>
            <a:r>
              <a:rPr lang="pt-BR" sz="1600" dirty="0"/>
              <a:t>;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End</a:t>
            </a:r>
            <a:r>
              <a:rPr lang="pt-BR" sz="1600" dirty="0"/>
              <a:t> </a:t>
            </a:r>
            <a:r>
              <a:rPr lang="pt-BR" sz="1600" dirty="0" err="1"/>
              <a:t>if</a:t>
            </a:r>
            <a:r>
              <a:rPr lang="pt-BR" sz="1600" dirty="0"/>
              <a:t>; </a:t>
            </a:r>
            <a:endParaRPr lang="pt-BR" sz="1600" dirty="0" smtClean="0"/>
          </a:p>
          <a:p>
            <a:r>
              <a:rPr lang="pt-BR" sz="1600" dirty="0" smtClean="0"/>
              <a:t>➔ </a:t>
            </a:r>
            <a:r>
              <a:rPr lang="pt-BR" sz="1600" dirty="0" err="1"/>
              <a:t>End</a:t>
            </a:r>
            <a:r>
              <a:rPr lang="pt-BR" sz="1600" dirty="0"/>
              <a:t> //</a:t>
            </a:r>
          </a:p>
        </p:txBody>
      </p:sp>
    </p:spTree>
    <p:extLst>
      <p:ext uri="{BB962C8B-B14F-4D97-AF65-F5344CB8AC3E}">
        <p14:creationId xmlns:p14="http://schemas.microsoft.com/office/powerpoint/2010/main" val="337824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pic>
        <p:nvPicPr>
          <p:cNvPr id="7" name="image9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97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777022" y="3035300"/>
            <a:ext cx="10831133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lt1"/>
              </a:buClr>
              <a:buSzPts val="11000"/>
            </a:pPr>
            <a:r>
              <a:rPr lang="en-US" sz="11500" b="1" i="1" dirty="0" err="1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Duvidas</a:t>
            </a:r>
            <a:r>
              <a:rPr lang="en-US" sz="11500" b="1" i="1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?</a:t>
            </a:r>
            <a: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/>
            </a:r>
            <a:b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332053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Lato"/>
              <a:buNone/>
            </a:pP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416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40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pt-PT" sz="2600" b="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35" marR="0" indent="0">
              <a:spcBef>
                <a:spcPts val="5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sz="4000" dirty="0"/>
          </a:p>
        </p:txBody>
      </p:sp>
      <p:sp>
        <p:nvSpPr>
          <p:cNvPr id="4" name="Google Shape;92;p1"/>
          <p:cNvSpPr/>
          <p:nvPr/>
        </p:nvSpPr>
        <p:spPr>
          <a:xfrm>
            <a:off x="0" y="6100549"/>
            <a:ext cx="12192000" cy="7574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AGENTES DA MORGUE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0" y="0"/>
            <a:ext cx="12471400" cy="610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4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777022" y="967227"/>
            <a:ext cx="10831133" cy="53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lt1"/>
              </a:buClr>
              <a:buSzPts val="11000"/>
            </a:pPr>
            <a:r>
              <a:rPr lang="en-US" sz="11500" b="1" i="1" dirty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Obrigado pela </a:t>
            </a:r>
            <a:r>
              <a:rPr lang="en-US" sz="11500" b="1" i="1" dirty="0" err="1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atenção</a:t>
            </a:r>
            <a:r>
              <a:rPr lang="en-US" sz="11500" b="1" i="1" dirty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11500" b="1" i="1" dirty="0" err="1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dispensada</a:t>
            </a:r>
            <a:r>
              <a:rPr lang="en-US" sz="11500" b="1" i="1" dirty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!</a:t>
            </a:r>
            <a: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/>
            </a:r>
            <a:br>
              <a:rPr lang="en-US" sz="8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246506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body" idx="1"/>
          </p:nvPr>
        </p:nvSpPr>
        <p:spPr>
          <a:xfrm>
            <a:off x="500576" y="100969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400"/>
              <a:buNone/>
            </a:pPr>
            <a:r>
              <a:rPr lang="en-US" sz="344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FIM</a:t>
            </a:r>
            <a:endParaRPr sz="344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2114</TotalTime>
  <Words>2083</Words>
  <Application>Microsoft Office PowerPoint</Application>
  <PresentationFormat>Widescreen</PresentationFormat>
  <Paragraphs>450</Paragraphs>
  <Slides>40</Slides>
  <Notes>40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Lato</vt:lpstr>
      <vt:lpstr>Calibri</vt:lpstr>
      <vt:lpstr>Cambria Math</vt:lpstr>
      <vt:lpstr>Architects Daughter</vt:lpstr>
      <vt:lpstr>Times New Roman</vt:lpstr>
      <vt:lpstr>Arial</vt:lpstr>
      <vt:lpstr>Wingdings</vt:lpstr>
      <vt:lpstr>Tema do Office</vt:lpstr>
      <vt:lpstr> UNIVERSIDADE EDUARDO MONDLANE FACULDADE DE ENGENHARIA DEPARTAMENTO DE ELECTROTÉCNICA Curso: Licenciatura em Engenharia Informática Banco de Dados I 5º Grupo  </vt:lpstr>
      <vt:lpstr>OS AGENTES DA MORGUE APRESENTAM:</vt:lpstr>
      <vt:lpstr>SGM-HCM</vt:lpstr>
      <vt:lpstr>INTRODUÇÃO</vt:lpstr>
      <vt:lpstr>INTRODUÇÃO (Cont.)</vt:lpstr>
      <vt:lpstr>OBJECTIVOS</vt:lpstr>
      <vt:lpstr>DESCRIÇÃO DO PROBLEMA (MINI MUNDO)</vt:lpstr>
      <vt:lpstr>DESCRIÇÃO DO PROBLEMA (MINI MUNDO-Cont.)</vt:lpstr>
      <vt:lpstr>DESCRIÇÃO DO PROBLEMA (MINI MUNDO-Cont.)</vt:lpstr>
      <vt:lpstr>DESCRIÇÃO DO PROBLEMA (MINI MUNDO-Cont.)</vt:lpstr>
      <vt:lpstr>DESCRIÇÃO DO PROBLEMA (MINI MUNDO-Cont.)</vt:lpstr>
      <vt:lpstr>DIAGRAMA ENTIDADE RELACIONAMENTO.)</vt:lpstr>
      <vt:lpstr>MAPEAMENTO</vt:lpstr>
      <vt:lpstr>MAPEAMENTO (Cont.)</vt:lpstr>
      <vt:lpstr>MAPEAMENTO (Cont.)</vt:lpstr>
      <vt:lpstr>NORMALIZACÃO (1FN)</vt:lpstr>
      <vt:lpstr>NORMALIZACÃO (1FN-Cont.)</vt:lpstr>
      <vt:lpstr>NORMALIZACÃO (1FN-Cont.)</vt:lpstr>
      <vt:lpstr>NORMALIZACÃO (1FN-Cont.)</vt:lpstr>
      <vt:lpstr>NORMALIZACÃO </vt:lpstr>
      <vt:lpstr>LISTA DE CONSULTAS 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CONSULTAS – ALGEBRA &amp; SQL</vt:lpstr>
      <vt:lpstr>Gatilhos e Procedimentos </vt:lpstr>
      <vt:lpstr>TRIGGERS</vt:lpstr>
      <vt:lpstr>TRIGGERS</vt:lpstr>
      <vt:lpstr>PROCEDURES</vt:lpstr>
      <vt:lpstr>Apresentação do PowerPoint</vt:lpstr>
      <vt:lpstr>Duvidas? </vt:lpstr>
      <vt:lpstr>Apresentação do PowerPoint</vt:lpstr>
      <vt:lpstr>Obrigado pela atenção dispensada! 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EDUARDO MONDLANE FACULDADE DE ENGENHARIA DEPARTAMENTO DE ELECTROTÉCNICA Curso: Licenciatura em Engenharia Informática Programação Orientada a Objectos I 5º Grupo</dc:title>
  <dc:creator>Lino Macas</dc:creator>
  <cp:lastModifiedBy>Conta da Microsoft</cp:lastModifiedBy>
  <cp:revision>54</cp:revision>
  <dcterms:created xsi:type="dcterms:W3CDTF">2022-03-18T17:51:43Z</dcterms:created>
  <dcterms:modified xsi:type="dcterms:W3CDTF">2022-06-30T10:39:31Z</dcterms:modified>
</cp:coreProperties>
</file>