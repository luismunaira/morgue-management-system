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7" r:id="rId4"/>
    <p:sldId id="259" r:id="rId5"/>
    <p:sldId id="260" r:id="rId6"/>
    <p:sldId id="258" r:id="rId7"/>
    <p:sldId id="261" r:id="rId8"/>
    <p:sldId id="262" r:id="rId9"/>
    <p:sldId id="272" r:id="rId10"/>
    <p:sldId id="263" r:id="rId11"/>
    <p:sldId id="265" r:id="rId12"/>
    <p:sldId id="267" r:id="rId13"/>
    <p:sldId id="268" r:id="rId14"/>
    <p:sldId id="270" r:id="rId15"/>
    <p:sldId id="266" r:id="rId1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aira" initials="M" lastIdx="0" clrIdx="0">
    <p:extLst>
      <p:ext uri="{19B8F6BF-5375-455C-9EA6-DF929625EA0E}">
        <p15:presenceInfo xmlns:p15="http://schemas.microsoft.com/office/powerpoint/2012/main" userId="Munai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E64E"/>
    <a:srgbClr val="EAF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57337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3559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453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41368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01495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61666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1456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281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7145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4711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7345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4294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0" y="182881"/>
            <a:ext cx="1894417" cy="1780032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70176" y="182881"/>
            <a:ext cx="97901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" sz="3600" b="1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UNIVERSIDADE  EDUARDO  MONDLANE</a:t>
            </a:r>
          </a:p>
          <a:p>
            <a:pPr algn="ctr"/>
            <a:r>
              <a:rPr lang="" sz="3200" b="1" baseline="0" dirty="0" smtClean="0"/>
              <a:t>  </a:t>
            </a:r>
            <a:r>
              <a:rPr lang="" sz="3200" b="1" baseline="0" dirty="0" smtClean="0">
                <a:latin typeface="Times New Roman" pitchFamily="18" charset="0"/>
                <a:cs typeface="Times New Roman" pitchFamily="18" charset="0"/>
              </a:rPr>
              <a:t>FACULDADE  DE  ENGENHARIA</a:t>
            </a:r>
          </a:p>
          <a:p>
            <a:pPr algn="ctr"/>
            <a:endParaRPr lang="pt-PT" sz="32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1536192" y="1690986"/>
            <a:ext cx="95219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DEPARTAMENTO </a:t>
            </a:r>
            <a:r>
              <a:rPr lang="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 ENGENHARIA</a:t>
            </a:r>
            <a:r>
              <a:rPr lang="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 ELETROTÉCNICA </a:t>
            </a:r>
            <a:endParaRPr lang="pt-PT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pt-BR" sz="2000" b="1" dirty="0" smtClean="0">
                <a:latin typeface="Times New Roman" pitchFamily="18" charset="0"/>
                <a:cs typeface="Times New Roman" pitchFamily="18" charset="0"/>
              </a:rPr>
              <a:t>LICENCIATURA</a:t>
            </a:r>
            <a:r>
              <a:rPr lang="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000" b="1" dirty="0" smtClean="0">
                <a:latin typeface="Times New Roman" pitchFamily="18" charset="0"/>
                <a:cs typeface="Times New Roman" pitchFamily="18" charset="0"/>
              </a:rPr>
              <a:t> EM </a:t>
            </a:r>
            <a:r>
              <a:rPr lang="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000" b="1" dirty="0" smtClean="0">
                <a:latin typeface="Times New Roman" pitchFamily="18" charset="0"/>
                <a:cs typeface="Times New Roman" pitchFamily="18" charset="0"/>
              </a:rPr>
              <a:t>ENGENHARIA</a:t>
            </a:r>
            <a:r>
              <a:rPr lang="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000" b="1" dirty="0" smtClean="0">
                <a:latin typeface="Times New Roman" pitchFamily="18" charset="0"/>
                <a:cs typeface="Times New Roman" pitchFamily="18" charset="0"/>
              </a:rPr>
              <a:t> INFORMÁTICA</a:t>
            </a:r>
            <a:r>
              <a:rPr lang="pt-BR" sz="2000" b="1" dirty="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pt-PT" sz="2400" b="1" dirty="0" smtClean="0">
              <a:solidFill>
                <a:srgbClr val="008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pt-PT" sz="2800" dirty="0" smtClean="0">
                <a:latin typeface="Times New Roman" pitchFamily="18" charset="0"/>
                <a:cs typeface="Times New Roman" pitchFamily="18" charset="0"/>
              </a:rPr>
              <a:t>Estrutura de Dados e </a:t>
            </a:r>
            <a:r>
              <a:rPr lang="pt-PT" sz="2800" dirty="0" smtClean="0">
                <a:latin typeface="Times New Roman" pitchFamily="18" charset="0"/>
                <a:cs typeface="Times New Roman" pitchFamily="18" charset="0"/>
              </a:rPr>
              <a:t>Algoritmos</a:t>
            </a:r>
          </a:p>
          <a:p>
            <a:pPr algn="ctr">
              <a:lnSpc>
                <a:spcPct val="150000"/>
              </a:lnSpc>
            </a:pPr>
            <a:r>
              <a:rPr lang="pt-PT" sz="2800" b="1" dirty="0" smtClean="0">
                <a:latin typeface="Times New Roman" pitchFamily="18" charset="0"/>
                <a:cs typeface="Times New Roman" pitchFamily="18" charset="0"/>
              </a:rPr>
              <a:t>Arvore Balanceada</a:t>
            </a:r>
            <a:endParaRPr lang="pt-PT" sz="28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pt-PT" dirty="0"/>
          </a:p>
        </p:txBody>
      </p:sp>
      <p:sp>
        <p:nvSpPr>
          <p:cNvPr id="9" name="CaixaDeTexto 8"/>
          <p:cNvSpPr txBox="1"/>
          <p:nvPr/>
        </p:nvSpPr>
        <p:spPr>
          <a:xfrm>
            <a:off x="2365248" y="5827776"/>
            <a:ext cx="76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Matola, Novembro 2022</a:t>
            </a:r>
            <a:endParaRPr lang="pt-PT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90144" y="3722311"/>
            <a:ext cx="43281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 smtClean="0"/>
              <a:t>Estudantes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Munaira Junior ,Luis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Nhampalela, Ginencio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Sebastian , Rui</a:t>
            </a:r>
            <a:endParaRPr lang="pt-PT" sz="2000" dirty="0"/>
          </a:p>
        </p:txBody>
      </p:sp>
    </p:spTree>
    <p:extLst>
      <p:ext uri="{BB962C8B-B14F-4D97-AF65-F5344CB8AC3E}">
        <p14:creationId xmlns:p14="http://schemas.microsoft.com/office/powerpoint/2010/main" val="230821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2800" b="1" dirty="0" smtClean="0"/>
              <a:t>    </a:t>
            </a:r>
            <a:r>
              <a:rPr lang="pt-PT" sz="2800" b="1" dirty="0" smtClean="0"/>
              <a:t>Objectivos</a:t>
            </a:r>
            <a:endParaRPr lang="pt-PT" sz="2800" b="1" dirty="0"/>
          </a:p>
        </p:txBody>
      </p:sp>
      <p:sp>
        <p:nvSpPr>
          <p:cNvPr id="6" name="CaixaDeTexto 5"/>
          <p:cNvSpPr txBox="1"/>
          <p:nvPr/>
        </p:nvSpPr>
        <p:spPr>
          <a:xfrm>
            <a:off x="170688" y="1450848"/>
            <a:ext cx="1176528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 smtClean="0"/>
              <a:t>Objectivo Geral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PT" sz="2400" dirty="0"/>
              <a:t> </a:t>
            </a:r>
            <a:r>
              <a:rPr lang="pt-PT" sz="2400" dirty="0" smtClean="0"/>
              <a:t>   </a:t>
            </a:r>
            <a:r>
              <a:rPr lang="pt-PT" sz="2800" b="1" dirty="0" smtClean="0">
                <a:solidFill>
                  <a:schemeClr val="accent1">
                    <a:lumMod val="75000"/>
                  </a:schemeClr>
                </a:solidFill>
              </a:rPr>
              <a:t>Balancear uma Arvore Binaria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pt-PT" sz="2800" b="1" dirty="0"/>
          </a:p>
          <a:p>
            <a:pPr lvl="3"/>
            <a:endParaRPr lang="pt-PT" sz="2800" b="1" dirty="0" smtClean="0"/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pt-PT" sz="2800" b="1" dirty="0"/>
          </a:p>
          <a:p>
            <a:pPr lvl="3"/>
            <a:r>
              <a:rPr lang="pt-PT" sz="3200" dirty="0" smtClean="0"/>
              <a:t>Objectivo Especifico</a:t>
            </a:r>
          </a:p>
          <a:p>
            <a:pPr marL="2628900" lvl="5" indent="-342900">
              <a:buFont typeface="Arial" panose="020B0604020202020204" pitchFamily="34" charset="0"/>
              <a:buChar char="•"/>
            </a:pPr>
            <a:r>
              <a:rPr lang="pt-PT" sz="2800" b="1" dirty="0" smtClean="0">
                <a:solidFill>
                  <a:schemeClr val="accent1">
                    <a:lumMod val="75000"/>
                  </a:schemeClr>
                </a:solidFill>
              </a:rPr>
              <a:t>Balancear Apos Inserir</a:t>
            </a:r>
          </a:p>
          <a:p>
            <a:pPr marL="2628900" lvl="5" indent="-342900">
              <a:buFont typeface="Arial" panose="020B0604020202020204" pitchFamily="34" charset="0"/>
              <a:buChar char="•"/>
            </a:pPr>
            <a:r>
              <a:rPr lang="pt-PT" sz="2800" b="1" dirty="0">
                <a:solidFill>
                  <a:schemeClr val="accent1">
                    <a:lumMod val="75000"/>
                  </a:schemeClr>
                </a:solidFill>
              </a:rPr>
              <a:t>Balancear Apos </a:t>
            </a:r>
            <a:r>
              <a:rPr lang="pt-PT" sz="2800" b="1" dirty="0" smtClean="0">
                <a:solidFill>
                  <a:schemeClr val="accent1">
                    <a:lumMod val="75000"/>
                  </a:schemeClr>
                </a:solidFill>
              </a:rPr>
              <a:t>Remover</a:t>
            </a:r>
          </a:p>
          <a:p>
            <a:pPr marL="2628900" lvl="5" indent="-342900">
              <a:buFont typeface="Arial" panose="020B0604020202020204" pitchFamily="34" charset="0"/>
              <a:buChar char="•"/>
            </a:pPr>
            <a:r>
              <a:rPr lang="pt-PT" sz="2800" b="1" dirty="0" smtClean="0">
                <a:solidFill>
                  <a:schemeClr val="accent1">
                    <a:lumMod val="75000"/>
                  </a:schemeClr>
                </a:solidFill>
              </a:rPr>
              <a:t>Factor Balanceamento</a:t>
            </a:r>
            <a:endParaRPr lang="pt-PT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424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505968" y="1378910"/>
            <a:ext cx="1118006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3200" dirty="0" smtClean="0"/>
              <a:t>Árvore </a:t>
            </a:r>
            <a:r>
              <a:rPr lang="pt-PT" sz="3200" dirty="0"/>
              <a:t>AVL é uma arvore binária de busca balanceada, ou seja uma arvore que minimiza o numero de operações </a:t>
            </a:r>
            <a:r>
              <a:rPr lang="pt-PT" sz="3200" dirty="0" smtClean="0"/>
              <a:t>efectuadas no </a:t>
            </a:r>
            <a:r>
              <a:rPr lang="pt-PT" sz="3200" dirty="0"/>
              <a:t>pior </a:t>
            </a:r>
            <a:r>
              <a:rPr lang="pt-PT" sz="3200" dirty="0" smtClean="0"/>
              <a:t>caso </a:t>
            </a:r>
            <a:r>
              <a:rPr lang="pt-PT" sz="2800" dirty="0" smtClean="0"/>
              <a:t>é de O(log n).</a:t>
            </a:r>
            <a:endParaRPr lang="pt-PT" sz="2800" dirty="0"/>
          </a:p>
          <a:p>
            <a:pPr algn="just">
              <a:lnSpc>
                <a:spcPct val="150000"/>
              </a:lnSpc>
            </a:pPr>
            <a:r>
              <a:rPr lang="pt-PT" sz="3200" dirty="0" smtClean="0"/>
              <a:t>Operacoes </a:t>
            </a:r>
            <a:r>
              <a:rPr lang="pt-PT" sz="3200" dirty="0"/>
              <a:t>de Busca, inserção e Remoção de elementos possuem complexidade O(log n)</a:t>
            </a:r>
            <a:endParaRPr lang="pt-PT" sz="2800" dirty="0"/>
          </a:p>
          <a:p>
            <a:pPr algn="just">
              <a:lnSpc>
                <a:spcPct val="150000"/>
              </a:lnSpc>
            </a:pPr>
            <a:r>
              <a:rPr lang="pt-PT" sz="3200" dirty="0"/>
              <a:t>n- numero de elementos na arvore</a:t>
            </a:r>
            <a:endParaRPr lang="pt-PT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pt-PT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0" y="707886"/>
            <a:ext cx="12192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2800" b="1" dirty="0" smtClean="0"/>
              <a:t>    Conceitos Basicos</a:t>
            </a:r>
            <a:endParaRPr lang="pt-PT" sz="2800" b="1" dirty="0"/>
          </a:p>
        </p:txBody>
      </p:sp>
    </p:spTree>
    <p:extLst>
      <p:ext uri="{BB962C8B-B14F-4D97-AF65-F5344CB8AC3E}">
        <p14:creationId xmlns:p14="http://schemas.microsoft.com/office/powerpoint/2010/main" val="144460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3296" y="1231106"/>
            <a:ext cx="10890504" cy="5626894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pt-PT" dirty="0" smtClean="0"/>
              <a:t>Toda </a:t>
            </a:r>
            <a:r>
              <a:rPr lang="pt-PT" dirty="0"/>
              <a:t>Árvore AVL é balanceada, isto é, sua altura é O(log n).</a:t>
            </a:r>
          </a:p>
          <a:p>
            <a:pPr>
              <a:lnSpc>
                <a:spcPct val="200000"/>
              </a:lnSpc>
            </a:pPr>
            <a:r>
              <a:rPr lang="pt-PT" dirty="0"/>
              <a:t>A vantagem de balanceamento é possibilitar a complexidade O(log n)</a:t>
            </a:r>
          </a:p>
          <a:p>
            <a:pPr>
              <a:lnSpc>
                <a:spcPct val="200000"/>
              </a:lnSpc>
            </a:pPr>
            <a:r>
              <a:rPr lang="pt-PT" dirty="0"/>
              <a:t>As operações de inserção e Remoção, a Árvore AVL  possuem custo similar</a:t>
            </a:r>
            <a:r>
              <a:rPr lang="pt-PT" dirty="0" smtClean="0"/>
              <a:t>.</a:t>
            </a:r>
            <a:endParaRPr lang="pt-PT" dirty="0"/>
          </a:p>
          <a:p>
            <a:pPr marL="0" indent="0">
              <a:lnSpc>
                <a:spcPct val="200000"/>
              </a:lnSpc>
              <a:buNone/>
            </a:pPr>
            <a:r>
              <a:rPr lang="pt-PT" dirty="0" smtClean="0"/>
              <a:t> 	Para </a:t>
            </a:r>
            <a:r>
              <a:rPr lang="pt-PT" dirty="0"/>
              <a:t>garantir essa propriedade cada inserção ou Remoção o </a:t>
            </a:r>
            <a:r>
              <a:rPr lang="pt-PT" dirty="0" smtClean="0"/>
              <a:t>factor de balanceamento deve </a:t>
            </a:r>
            <a:r>
              <a:rPr lang="pt-PT" dirty="0"/>
              <a:t>ser </a:t>
            </a:r>
            <a:r>
              <a:rPr lang="pt-PT" dirty="0" smtClean="0"/>
              <a:t>actualizado , Apartir </a:t>
            </a:r>
            <a:r>
              <a:rPr lang="pt-PT" dirty="0"/>
              <a:t>do nó pai do nó inserido até a raiz da Árvore</a:t>
            </a:r>
            <a:r>
              <a:rPr lang="pt-PT" dirty="0" smtClean="0"/>
              <a:t>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2800" b="1" dirty="0" smtClean="0"/>
              <a:t>    Estrutura</a:t>
            </a:r>
            <a:endParaRPr lang="pt-PT" sz="2800" b="1" dirty="0"/>
          </a:p>
        </p:txBody>
      </p:sp>
    </p:spTree>
    <p:extLst>
      <p:ext uri="{BB962C8B-B14F-4D97-AF65-F5344CB8AC3E}">
        <p14:creationId xmlns:p14="http://schemas.microsoft.com/office/powerpoint/2010/main" val="64328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0994" y="1433953"/>
            <a:ext cx="11000232" cy="450665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PT" sz="3000" dirty="0" smtClean="0"/>
              <a:t>A estrutura cada elemento é chamado de Nó, e cada no armazena chave de dois ponteiros Para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sz="3000" dirty="0"/>
              <a:t> </a:t>
            </a:r>
            <a:r>
              <a:rPr lang="pt-PT" sz="3000" dirty="0" smtClean="0"/>
              <a:t>       </a:t>
            </a:r>
            <a:r>
              <a:rPr lang="pt-PT" dirty="0" smtClean="0"/>
              <a:t>      </a:t>
            </a:r>
            <a:r>
              <a:rPr lang="pt-PT" sz="3000" u="sng" dirty="0" smtClean="0"/>
              <a:t>SubÁrvore a esquerda    e  outra   SubÁrvore a Direita</a:t>
            </a:r>
            <a:r>
              <a:rPr lang="pt-PT" u="sng" dirty="0" smtClean="0"/>
              <a:t>.</a:t>
            </a:r>
          </a:p>
          <a:p>
            <a:pPr>
              <a:lnSpc>
                <a:spcPct val="150000"/>
              </a:lnSpc>
            </a:pPr>
            <a:endParaRPr lang="pt-PT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pt-PT" sz="2800" b="1" dirty="0" smtClean="0"/>
              <a:t>    Estrutura_</a:t>
            </a:r>
            <a:r>
              <a:rPr lang="pt-PT" sz="2000" b="1" dirty="0" smtClean="0"/>
              <a:t>cont</a:t>
            </a:r>
            <a:endParaRPr lang="pt-PT" sz="2000" b="1" dirty="0"/>
          </a:p>
        </p:txBody>
      </p:sp>
      <p:sp>
        <p:nvSpPr>
          <p:cNvPr id="6" name="Elipse 5"/>
          <p:cNvSpPr/>
          <p:nvPr/>
        </p:nvSpPr>
        <p:spPr>
          <a:xfrm>
            <a:off x="5193792" y="3913632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</a:t>
            </a:r>
            <a:endParaRPr lang="pt-PT" dirty="0"/>
          </a:p>
        </p:txBody>
      </p:sp>
      <p:cxnSp>
        <p:nvCxnSpPr>
          <p:cNvPr id="8" name="Conector reto 7"/>
          <p:cNvCxnSpPr>
            <a:stCxn id="6" idx="3"/>
            <a:endCxn id="6" idx="3"/>
          </p:cNvCxnSpPr>
          <p:nvPr/>
        </p:nvCxnSpPr>
        <p:spPr>
          <a:xfrm>
            <a:off x="5283066" y="442355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 flipV="1">
            <a:off x="4303776" y="4423552"/>
            <a:ext cx="991482" cy="480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706368" y="4693217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  <a:endParaRPr lang="pt-PT" dirty="0"/>
          </a:p>
        </p:txBody>
      </p:sp>
      <p:cxnSp>
        <p:nvCxnSpPr>
          <p:cNvPr id="17" name="Conector reto 16"/>
          <p:cNvCxnSpPr>
            <a:stCxn id="21" idx="2"/>
            <a:endCxn id="6" idx="5"/>
          </p:cNvCxnSpPr>
          <p:nvPr/>
        </p:nvCxnSpPr>
        <p:spPr>
          <a:xfrm flipH="1" flipV="1">
            <a:off x="5714118" y="4423552"/>
            <a:ext cx="1092507" cy="539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6806625" y="4664178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12</a:t>
            </a:r>
            <a:endParaRPr lang="pt-PT" dirty="0"/>
          </a:p>
        </p:txBody>
      </p:sp>
      <p:sp>
        <p:nvSpPr>
          <p:cNvPr id="23" name="Elipse 22"/>
          <p:cNvSpPr/>
          <p:nvPr/>
        </p:nvSpPr>
        <p:spPr>
          <a:xfrm>
            <a:off x="2798064" y="5630299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pt-PT" dirty="0"/>
          </a:p>
        </p:txBody>
      </p:sp>
      <p:sp>
        <p:nvSpPr>
          <p:cNvPr id="24" name="Elipse 23"/>
          <p:cNvSpPr/>
          <p:nvPr/>
        </p:nvSpPr>
        <p:spPr>
          <a:xfrm>
            <a:off x="4685658" y="5630299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pt-PT" dirty="0"/>
          </a:p>
        </p:txBody>
      </p:sp>
      <p:cxnSp>
        <p:nvCxnSpPr>
          <p:cNvPr id="34" name="Conector reto 33"/>
          <p:cNvCxnSpPr>
            <a:stCxn id="23" idx="7"/>
            <a:endCxn id="15" idx="3"/>
          </p:cNvCxnSpPr>
          <p:nvPr/>
        </p:nvCxnSpPr>
        <p:spPr>
          <a:xfrm flipV="1">
            <a:off x="3318390" y="5203137"/>
            <a:ext cx="477252" cy="514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24" idx="0"/>
            <a:endCxn id="15" idx="5"/>
          </p:cNvCxnSpPr>
          <p:nvPr/>
        </p:nvCxnSpPr>
        <p:spPr>
          <a:xfrm flipH="1" flipV="1">
            <a:off x="4226694" y="5203137"/>
            <a:ext cx="763764" cy="427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ipse 42"/>
          <p:cNvSpPr/>
          <p:nvPr/>
        </p:nvSpPr>
        <p:spPr>
          <a:xfrm>
            <a:off x="5726310" y="5728907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11</a:t>
            </a:r>
            <a:endParaRPr lang="pt-PT" dirty="0"/>
          </a:p>
        </p:txBody>
      </p:sp>
      <p:cxnSp>
        <p:nvCxnSpPr>
          <p:cNvPr id="45" name="Conector reto 44"/>
          <p:cNvCxnSpPr>
            <a:stCxn id="43" idx="7"/>
            <a:endCxn id="21" idx="3"/>
          </p:cNvCxnSpPr>
          <p:nvPr/>
        </p:nvCxnSpPr>
        <p:spPr>
          <a:xfrm flipV="1">
            <a:off x="6246636" y="5174098"/>
            <a:ext cx="649263" cy="6422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/>
          <p:cNvSpPr/>
          <p:nvPr/>
        </p:nvSpPr>
        <p:spPr>
          <a:xfrm>
            <a:off x="8040825" y="5728907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29</a:t>
            </a:r>
            <a:endParaRPr lang="pt-PT" dirty="0"/>
          </a:p>
        </p:txBody>
      </p:sp>
      <p:cxnSp>
        <p:nvCxnSpPr>
          <p:cNvPr id="50" name="Conector reto 49"/>
          <p:cNvCxnSpPr>
            <a:stCxn id="48" idx="1"/>
            <a:endCxn id="21" idx="5"/>
          </p:cNvCxnSpPr>
          <p:nvPr/>
        </p:nvCxnSpPr>
        <p:spPr>
          <a:xfrm flipH="1" flipV="1">
            <a:off x="7326951" y="5174098"/>
            <a:ext cx="803148" cy="6422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74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6240" y="1415772"/>
            <a:ext cx="11399520" cy="51816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PT" dirty="0" smtClean="0"/>
              <a:t>	Uma </a:t>
            </a:r>
            <a:r>
              <a:rPr lang="pt-PT" dirty="0"/>
              <a:t>arvore Binária T é denominada </a:t>
            </a:r>
            <a:r>
              <a:rPr lang="pt-PT" b="1" dirty="0"/>
              <a:t>AVL</a:t>
            </a:r>
            <a:r>
              <a:rPr lang="pt-PT" dirty="0"/>
              <a:t> quando, para qualquer nó de T, as alturas das suas SubÁrvores, Esquerda e Direita Diferem de até uma unidade.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dirty="0" smtClean="0"/>
              <a:t>                         </a:t>
            </a:r>
            <a:r>
              <a:rPr lang="pt-PT" b="1" dirty="0" smtClean="0"/>
              <a:t>Fb </a:t>
            </a:r>
            <a:r>
              <a:rPr lang="pt-PT" b="1" dirty="0"/>
              <a:t>= | h_Direita(k) – h_Esquerda(K) | &lt;= 1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b="1" dirty="0"/>
              <a:t>Fb</a:t>
            </a:r>
            <a:r>
              <a:rPr lang="pt-PT" dirty="0"/>
              <a:t> é chamado fator de </a:t>
            </a:r>
            <a:r>
              <a:rPr lang="pt-PT" dirty="0" smtClean="0"/>
              <a:t>balançeamento </a:t>
            </a:r>
            <a:r>
              <a:rPr lang="pt-PT" dirty="0"/>
              <a:t>do </a:t>
            </a:r>
            <a:r>
              <a:rPr lang="pt-PT" dirty="0" smtClean="0"/>
              <a:t>nó.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dirty="0" smtClean="0"/>
              <a:t>Quando Fb </a:t>
            </a:r>
            <a:r>
              <a:rPr lang="pt-PT" dirty="0"/>
              <a:t>possui </a:t>
            </a:r>
            <a:r>
              <a:rPr lang="pt-PT" dirty="0" smtClean="0"/>
              <a:t> </a:t>
            </a:r>
            <a:r>
              <a:rPr lang="pt-PT" dirty="0"/>
              <a:t>-1, 0 ou 1 então o mesmo é um N</a:t>
            </a:r>
            <a:r>
              <a:rPr lang="pt-PT" dirty="0" smtClean="0"/>
              <a:t>ó </a:t>
            </a:r>
            <a:r>
              <a:rPr lang="pt-PT" dirty="0"/>
              <a:t>Regulado. Todos nós de AVL são regulados. </a:t>
            </a:r>
            <a:r>
              <a:rPr lang="pt-PT" u="sng" dirty="0"/>
              <a:t>Caso não a Árvore não é AVL</a:t>
            </a:r>
            <a:r>
              <a:rPr lang="pt-PT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pt-PT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2800" b="1" dirty="0" smtClean="0"/>
              <a:t>     Balanceamento</a:t>
            </a:r>
          </a:p>
        </p:txBody>
      </p:sp>
    </p:spTree>
    <p:extLst>
      <p:ext uri="{BB962C8B-B14F-4D97-AF65-F5344CB8AC3E}">
        <p14:creationId xmlns:p14="http://schemas.microsoft.com/office/powerpoint/2010/main" val="313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38912" y="1415772"/>
            <a:ext cx="10914888" cy="476119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PT" dirty="0" smtClean="0"/>
              <a:t>Se o </a:t>
            </a:r>
            <a:r>
              <a:rPr lang="pt-PT" b="1" dirty="0"/>
              <a:t>F</a:t>
            </a:r>
            <a:r>
              <a:rPr lang="pt-PT" b="1" dirty="0" smtClean="0"/>
              <a:t>b = -2 </a:t>
            </a:r>
            <a:r>
              <a:rPr lang="pt-PT" dirty="0" smtClean="0"/>
              <a:t>ou </a:t>
            </a:r>
            <a:r>
              <a:rPr lang="pt-PT" b="1" dirty="0"/>
              <a:t>F</a:t>
            </a:r>
            <a:r>
              <a:rPr lang="pt-PT" b="1" dirty="0" smtClean="0"/>
              <a:t>b = 2</a:t>
            </a:r>
            <a:r>
              <a:rPr lang="pt-PT" dirty="0" smtClean="0"/>
              <a:t>, deve aplicar a </a:t>
            </a:r>
            <a:r>
              <a:rPr lang="pt-PT" b="1" dirty="0" smtClean="0"/>
              <a:t>rotação</a:t>
            </a:r>
            <a:r>
              <a:rPr lang="pt-PT" dirty="0" smtClean="0"/>
              <a:t> necessária.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dirty="0" smtClean="0"/>
              <a:t>Na remoção a verificação deverá prosseguir até a raiz, podendo </a:t>
            </a:r>
            <a:r>
              <a:rPr lang="pt-PT" u="sng" dirty="0" smtClean="0"/>
              <a:t>requerer mais de uma rotação.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dirty="0" err="1" smtClean="0"/>
              <a:t>Tipos</a:t>
            </a:r>
            <a:r>
              <a:rPr lang="en-US" b="1" dirty="0" smtClean="0"/>
              <a:t> de </a:t>
            </a:r>
            <a:r>
              <a:rPr lang="pt-PT" b="1" dirty="0" smtClean="0"/>
              <a:t>Rotação</a:t>
            </a:r>
          </a:p>
          <a:p>
            <a:pPr lvl="1">
              <a:lnSpc>
                <a:spcPct val="150000"/>
              </a:lnSpc>
            </a:pPr>
            <a:r>
              <a:rPr lang="pt-PT" sz="3000" dirty="0" smtClean="0"/>
              <a:t>Rotação a Direita                          Rotação Direita - Esquerda    </a:t>
            </a:r>
          </a:p>
          <a:p>
            <a:pPr lvl="1">
              <a:lnSpc>
                <a:spcPct val="150000"/>
              </a:lnSpc>
            </a:pPr>
            <a:r>
              <a:rPr lang="pt-PT" sz="3000" dirty="0" smtClean="0"/>
              <a:t>Rotação a Esquerda                     Rotação Esquerda - Direita 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pt-PT" sz="3600" b="1" dirty="0" smtClean="0"/>
          </a:p>
          <a:p>
            <a:pPr marL="0" indent="0" algn="ctr">
              <a:lnSpc>
                <a:spcPct val="150000"/>
              </a:lnSpc>
              <a:buNone/>
            </a:pPr>
            <a:endParaRPr lang="pt-PT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2800" b="1" dirty="0" smtClean="0"/>
              <a:t> </a:t>
            </a:r>
            <a:r>
              <a:rPr lang="pt-PT" sz="3200" b="1" dirty="0"/>
              <a:t>Rotações</a:t>
            </a:r>
          </a:p>
        </p:txBody>
      </p:sp>
      <p:sp>
        <p:nvSpPr>
          <p:cNvPr id="7" name="Elipse 6"/>
          <p:cNvSpPr/>
          <p:nvPr/>
        </p:nvSpPr>
        <p:spPr>
          <a:xfrm>
            <a:off x="5425441" y="4669536"/>
            <a:ext cx="137160" cy="131064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Elipse 7"/>
          <p:cNvSpPr/>
          <p:nvPr/>
        </p:nvSpPr>
        <p:spPr>
          <a:xfrm>
            <a:off x="5411726" y="5423249"/>
            <a:ext cx="137160" cy="131064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2252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524000"/>
            <a:ext cx="11353800" cy="4652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AVL  &gt;&gt;</a:t>
            </a:r>
            <a:endParaRPr lang="pt-PT" dirty="0"/>
          </a:p>
        </p:txBody>
      </p:sp>
      <p:sp>
        <p:nvSpPr>
          <p:cNvPr id="4" name="CaixaDeTexto 3"/>
          <p:cNvSpPr txBox="1"/>
          <p:nvPr/>
        </p:nvSpPr>
        <p:spPr>
          <a:xfrm>
            <a:off x="-22302" y="0"/>
            <a:ext cx="12214302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Balanceamento</a:t>
            </a:r>
            <a:endParaRPr lang="pt-PT" sz="3200" b="1" dirty="0"/>
          </a:p>
        </p:txBody>
      </p:sp>
      <p:sp>
        <p:nvSpPr>
          <p:cNvPr id="6" name="Elipse 5"/>
          <p:cNvSpPr/>
          <p:nvPr/>
        </p:nvSpPr>
        <p:spPr>
          <a:xfrm>
            <a:off x="1753740" y="1754283"/>
            <a:ext cx="841248" cy="82905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/>
              <a:t>N</a:t>
            </a:r>
            <a:r>
              <a:rPr lang="pt-PT" sz="2200" b="1" dirty="0" smtClean="0"/>
              <a:t>ó</a:t>
            </a:r>
            <a:endParaRPr lang="pt-PT" sz="2200" b="1" dirty="0"/>
          </a:p>
        </p:txBody>
      </p:sp>
      <p:cxnSp>
        <p:nvCxnSpPr>
          <p:cNvPr id="8" name="Conector reto 7"/>
          <p:cNvCxnSpPr>
            <a:stCxn id="6" idx="3"/>
            <a:endCxn id="11" idx="0"/>
          </p:cNvCxnSpPr>
          <p:nvPr/>
        </p:nvCxnSpPr>
        <p:spPr>
          <a:xfrm flipH="1">
            <a:off x="1072613" y="2461927"/>
            <a:ext cx="804325" cy="548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5"/>
            <a:endCxn id="24" idx="0"/>
          </p:cNvCxnSpPr>
          <p:nvPr/>
        </p:nvCxnSpPr>
        <p:spPr>
          <a:xfrm>
            <a:off x="2471790" y="2461927"/>
            <a:ext cx="773764" cy="522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riângulo isósceles 10"/>
          <p:cNvSpPr/>
          <p:nvPr/>
        </p:nvSpPr>
        <p:spPr>
          <a:xfrm>
            <a:off x="207264" y="3010800"/>
            <a:ext cx="1730698" cy="113448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solidFill>
                  <a:schemeClr val="tx1"/>
                </a:solidFill>
              </a:rPr>
              <a:t>SA_E</a:t>
            </a:r>
            <a:endParaRPr lang="pt-PT" sz="2500" b="1" dirty="0">
              <a:solidFill>
                <a:schemeClr val="tx1"/>
              </a:solidFill>
            </a:endParaRPr>
          </a:p>
        </p:txBody>
      </p:sp>
      <p:sp>
        <p:nvSpPr>
          <p:cNvPr id="24" name="Triângulo isósceles 23"/>
          <p:cNvSpPr/>
          <p:nvPr/>
        </p:nvSpPr>
        <p:spPr>
          <a:xfrm>
            <a:off x="2358020" y="2984925"/>
            <a:ext cx="1775068" cy="113448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solidFill>
                  <a:schemeClr val="tx1"/>
                </a:solidFill>
              </a:rPr>
              <a:t>SA_D</a:t>
            </a:r>
            <a:endParaRPr lang="pt-PT" sz="2500" b="1" dirty="0">
              <a:solidFill>
                <a:schemeClr val="tx1"/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4727940" y="1718766"/>
            <a:ext cx="6214663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 smtClean="0">
                <a:solidFill>
                  <a:schemeClr val="accent5">
                    <a:lumMod val="50000"/>
                  </a:schemeClr>
                </a:solidFill>
              </a:rPr>
              <a:t>Altura</a:t>
            </a:r>
            <a:r>
              <a:rPr lang="en-US" sz="2200" b="1" dirty="0" smtClean="0">
                <a:solidFill>
                  <a:schemeClr val="accent5">
                    <a:lumMod val="50000"/>
                  </a:schemeClr>
                </a:solidFill>
              </a:rPr>
              <a:t> (height):</a:t>
            </a:r>
          </a:p>
          <a:p>
            <a:pPr>
              <a:lnSpc>
                <a:spcPct val="150000"/>
              </a:lnSpc>
            </a:pPr>
            <a:r>
              <a:rPr lang="en-US" sz="2200" b="1" dirty="0" smtClean="0"/>
              <a:t>Se;</a:t>
            </a:r>
            <a:endParaRPr lang="en-US" sz="2200" b="1" dirty="0"/>
          </a:p>
          <a:p>
            <a:pPr>
              <a:lnSpc>
                <a:spcPct val="150000"/>
              </a:lnSpc>
            </a:pPr>
            <a:r>
              <a:rPr lang="en-US" sz="2200" b="1" dirty="0" smtClean="0"/>
              <a:t>H ( </a:t>
            </a:r>
            <a:r>
              <a:rPr lang="pt-PT" sz="2200" b="1" dirty="0" smtClean="0"/>
              <a:t>Ǿ</a:t>
            </a:r>
            <a:r>
              <a:rPr lang="en-US" sz="2200" b="1" dirty="0" smtClean="0"/>
              <a:t> ) = -1</a:t>
            </a:r>
          </a:p>
          <a:p>
            <a:pPr>
              <a:lnSpc>
                <a:spcPct val="150000"/>
              </a:lnSpc>
            </a:pPr>
            <a:r>
              <a:rPr lang="en-US" sz="2200" b="1" dirty="0" smtClean="0"/>
              <a:t>H ( root ) = 0</a:t>
            </a:r>
          </a:p>
          <a:p>
            <a:pPr>
              <a:lnSpc>
                <a:spcPct val="150000"/>
              </a:lnSpc>
            </a:pPr>
            <a:r>
              <a:rPr lang="en-US" sz="2200" b="1" dirty="0" smtClean="0"/>
              <a:t>H( n ) = max( </a:t>
            </a:r>
            <a:r>
              <a:rPr lang="en-US" sz="2200" dirty="0" smtClean="0"/>
              <a:t>H(</a:t>
            </a:r>
            <a:r>
              <a:rPr lang="en-US" sz="2400" dirty="0" smtClean="0">
                <a:solidFill>
                  <a:schemeClr val="tx1"/>
                </a:solidFill>
              </a:rPr>
              <a:t>SA_E)</a:t>
            </a:r>
            <a:r>
              <a:rPr lang="en-US" sz="2400" b="1" dirty="0" smtClean="0">
                <a:solidFill>
                  <a:schemeClr val="tx1"/>
                </a:solidFill>
              </a:rPr>
              <a:t> , </a:t>
            </a:r>
            <a:r>
              <a:rPr lang="en-US" sz="2200" dirty="0" smtClean="0"/>
              <a:t>H(</a:t>
            </a:r>
            <a:r>
              <a:rPr lang="en-US" sz="2400" dirty="0" smtClean="0">
                <a:solidFill>
                  <a:schemeClr val="tx1"/>
                </a:solidFill>
              </a:rPr>
              <a:t>SA_D) </a:t>
            </a:r>
            <a:r>
              <a:rPr lang="en-US" sz="2400" b="1" dirty="0" smtClean="0">
                <a:solidFill>
                  <a:schemeClr val="tx1"/>
                </a:solidFill>
              </a:rPr>
              <a:t>) + 1 ; </a:t>
            </a:r>
            <a:endParaRPr lang="pt-PT" sz="2400" b="1" dirty="0" smtClean="0">
              <a:solidFill>
                <a:schemeClr val="tx1"/>
              </a:solidFill>
            </a:endParaRPr>
          </a:p>
          <a:p>
            <a:endParaRPr lang="pt-PT" sz="2200" b="1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207264" y="4565699"/>
            <a:ext cx="75717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 err="1" smtClean="0">
                <a:solidFill>
                  <a:schemeClr val="accent5">
                    <a:lumMod val="50000"/>
                  </a:schemeClr>
                </a:solidFill>
              </a:rPr>
              <a:t>Balanceamento</a:t>
            </a:r>
            <a:r>
              <a:rPr lang="en-US" sz="2200" b="1" dirty="0" smtClean="0">
                <a:solidFill>
                  <a:schemeClr val="accent5">
                    <a:lumMod val="50000"/>
                  </a:schemeClr>
                </a:solidFill>
              </a:rPr>
              <a:t> (factor balance):</a:t>
            </a:r>
            <a:endParaRPr lang="en-US" sz="2200" b="1" dirty="0"/>
          </a:p>
          <a:p>
            <a:pPr>
              <a:lnSpc>
                <a:spcPct val="150000"/>
              </a:lnSpc>
            </a:pPr>
            <a:r>
              <a:rPr lang="pt-PT" sz="2200" b="1" dirty="0" smtClean="0"/>
              <a:t>B(n) = </a:t>
            </a:r>
            <a:r>
              <a:rPr lang="en-US" sz="2000" b="1" dirty="0" smtClean="0"/>
              <a:t>H</a:t>
            </a:r>
            <a:r>
              <a:rPr lang="en-US" sz="2000" dirty="0" smtClean="0"/>
              <a:t>(</a:t>
            </a:r>
            <a:r>
              <a:rPr lang="en-US" sz="2000" dirty="0" smtClean="0">
                <a:solidFill>
                  <a:schemeClr val="tx1"/>
                </a:solidFill>
              </a:rPr>
              <a:t>SA_E)</a:t>
            </a:r>
            <a:r>
              <a:rPr lang="en-US" sz="2000" b="1" dirty="0" smtClean="0">
                <a:solidFill>
                  <a:schemeClr val="tx1"/>
                </a:solidFill>
              </a:rPr>
              <a:t> - </a:t>
            </a:r>
            <a:r>
              <a:rPr lang="en-US" sz="2000" b="1" dirty="0" smtClean="0"/>
              <a:t>H</a:t>
            </a:r>
            <a:r>
              <a:rPr lang="en-US" sz="2000" dirty="0" smtClean="0"/>
              <a:t>(</a:t>
            </a:r>
            <a:r>
              <a:rPr lang="en-US" sz="2000" dirty="0" smtClean="0">
                <a:solidFill>
                  <a:schemeClr val="tx1"/>
                </a:solidFill>
              </a:rPr>
              <a:t>SA_D) </a:t>
            </a:r>
            <a:r>
              <a:rPr lang="en-US" sz="2000" b="1" dirty="0" smtClean="0">
                <a:solidFill>
                  <a:schemeClr val="tx1"/>
                </a:solidFill>
              </a:rPr>
              <a:t>;                       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// 0 ,1, -1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Aceitavel</a:t>
            </a:r>
            <a:endParaRPr lang="en-US" sz="2000" b="1" dirty="0" smtClean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b="1" dirty="0" err="1" smtClean="0"/>
              <a:t>AVL_Arvore</a:t>
            </a:r>
            <a:r>
              <a:rPr lang="en-US" sz="2000" b="1" dirty="0" smtClean="0"/>
              <a:t> = | B(n) | &lt;= 1                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Arvore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Regulada</a:t>
            </a:r>
            <a:endParaRPr lang="en-US" sz="2000" b="1" dirty="0" smtClean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b="1" dirty="0" smtClean="0"/>
              <a:t>B(n) = 2 </a:t>
            </a:r>
            <a:r>
              <a:rPr lang="en-US" sz="2000" b="1" dirty="0" err="1" smtClean="0"/>
              <a:t>ou</a:t>
            </a:r>
            <a:r>
              <a:rPr lang="en-US" sz="2000" b="1" dirty="0" smtClean="0"/>
              <a:t> -2                                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//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Desbalanceado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a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esquera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ou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Direita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                    </a:t>
            </a:r>
            <a:endParaRPr lang="pt-PT" sz="22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0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76369" y="1494262"/>
            <a:ext cx="10684727" cy="5196469"/>
          </a:xfrm>
        </p:spPr>
        <p:txBody>
          <a:bodyPr/>
          <a:lstStyle/>
          <a:p>
            <a:pPr marL="0" indent="0">
              <a:buNone/>
            </a:pPr>
            <a:r>
              <a:rPr lang="pt-PT" dirty="0" smtClean="0"/>
              <a:t>AVL</a:t>
            </a:r>
            <a:endParaRPr lang="pt-PT" dirty="0"/>
          </a:p>
        </p:txBody>
      </p:sp>
      <p:sp>
        <p:nvSpPr>
          <p:cNvPr id="6" name="Elipse 5"/>
          <p:cNvSpPr/>
          <p:nvPr/>
        </p:nvSpPr>
        <p:spPr>
          <a:xfrm>
            <a:off x="2326738" y="1694985"/>
            <a:ext cx="586727" cy="6034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3</a:t>
            </a:r>
          </a:p>
        </p:txBody>
      </p:sp>
      <p:cxnSp>
        <p:nvCxnSpPr>
          <p:cNvPr id="7" name="Conector reto 6"/>
          <p:cNvCxnSpPr>
            <a:stCxn id="6" idx="4"/>
            <a:endCxn id="8" idx="7"/>
          </p:cNvCxnSpPr>
          <p:nvPr/>
        </p:nvCxnSpPr>
        <p:spPr>
          <a:xfrm flipH="1">
            <a:off x="2162739" y="2298428"/>
            <a:ext cx="457363" cy="5175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1686830" y="2730657"/>
            <a:ext cx="557562" cy="58264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</a:t>
            </a:r>
            <a:endParaRPr lang="pt-PT" sz="2000" b="1" dirty="0"/>
          </a:p>
        </p:txBody>
      </p:sp>
      <p:sp>
        <p:nvSpPr>
          <p:cNvPr id="9" name="Elipse 8"/>
          <p:cNvSpPr/>
          <p:nvPr/>
        </p:nvSpPr>
        <p:spPr>
          <a:xfrm>
            <a:off x="799022" y="3657194"/>
            <a:ext cx="591015" cy="5670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0</a:t>
            </a:r>
            <a:endParaRPr lang="pt-PT" sz="2000" b="1" dirty="0"/>
          </a:p>
        </p:txBody>
      </p:sp>
      <p:cxnSp>
        <p:nvCxnSpPr>
          <p:cNvPr id="10" name="Conector reto 9"/>
          <p:cNvCxnSpPr>
            <a:stCxn id="8" idx="3"/>
            <a:endCxn id="9" idx="7"/>
          </p:cNvCxnSpPr>
          <p:nvPr/>
        </p:nvCxnSpPr>
        <p:spPr>
          <a:xfrm flipH="1">
            <a:off x="1303485" y="3227976"/>
            <a:ext cx="464998" cy="5122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2276377" y="3740230"/>
            <a:ext cx="533296" cy="5737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dirty="0" smtClean="0"/>
              <a:t>2</a:t>
            </a:r>
            <a:endParaRPr lang="pt-PT" sz="2000" dirty="0"/>
          </a:p>
        </p:txBody>
      </p:sp>
      <p:cxnSp>
        <p:nvCxnSpPr>
          <p:cNvPr id="12" name="Conector reto 11"/>
          <p:cNvCxnSpPr>
            <a:stCxn id="8" idx="5"/>
            <a:endCxn id="11" idx="0"/>
          </p:cNvCxnSpPr>
          <p:nvPr/>
        </p:nvCxnSpPr>
        <p:spPr>
          <a:xfrm>
            <a:off x="2162739" y="3227976"/>
            <a:ext cx="380286" cy="5122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3422131" y="2731495"/>
            <a:ext cx="621896" cy="58180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4</a:t>
            </a:r>
            <a:endParaRPr lang="pt-PT" sz="2000" b="1" dirty="0"/>
          </a:p>
        </p:txBody>
      </p:sp>
      <p:cxnSp>
        <p:nvCxnSpPr>
          <p:cNvPr id="14" name="Conector reto 13"/>
          <p:cNvCxnSpPr>
            <a:stCxn id="6" idx="4"/>
            <a:endCxn id="13" idx="1"/>
          </p:cNvCxnSpPr>
          <p:nvPr/>
        </p:nvCxnSpPr>
        <p:spPr>
          <a:xfrm>
            <a:off x="2620102" y="2298428"/>
            <a:ext cx="893104" cy="5182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439667" y="1326114"/>
            <a:ext cx="7571798" cy="1055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200" dirty="0" smtClean="0"/>
              <a:t>B(n) = </a:t>
            </a:r>
            <a:r>
              <a:rPr lang="en-US" sz="2200" dirty="0" smtClean="0"/>
              <a:t>H(</a:t>
            </a:r>
            <a:r>
              <a:rPr lang="en-US" sz="2200" dirty="0" smtClean="0">
                <a:solidFill>
                  <a:schemeClr val="tx1"/>
                </a:solidFill>
              </a:rPr>
              <a:t>SA_E) - </a:t>
            </a:r>
            <a:r>
              <a:rPr lang="en-US" sz="2200" dirty="0" smtClean="0"/>
              <a:t>H(</a:t>
            </a:r>
            <a:r>
              <a:rPr lang="en-US" sz="2200" dirty="0" smtClean="0">
                <a:solidFill>
                  <a:schemeClr val="tx1"/>
                </a:solidFill>
              </a:rPr>
              <a:t>SA_D) ; </a:t>
            </a:r>
          </a:p>
          <a:p>
            <a:pPr>
              <a:lnSpc>
                <a:spcPct val="150000"/>
              </a:lnSpc>
            </a:pPr>
            <a:r>
              <a:rPr lang="en-US" sz="2200" dirty="0" err="1" smtClean="0"/>
              <a:t>AVL_Arvore</a:t>
            </a:r>
            <a:r>
              <a:rPr lang="en-US" sz="2200" dirty="0" smtClean="0"/>
              <a:t> = | B(n) | &lt;= 1</a:t>
            </a:r>
            <a:endParaRPr lang="en-US" sz="2200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4646192" y="2815982"/>
            <a:ext cx="5857769" cy="20621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2200" dirty="0" smtClean="0"/>
              <a:t>B(3) = 1 – 0 = 1</a:t>
            </a:r>
          </a:p>
          <a:p>
            <a:r>
              <a:rPr lang="pt-PT" sz="2200" dirty="0" smtClean="0"/>
              <a:t>B(4) = -1 – ( -1) = 0</a:t>
            </a:r>
          </a:p>
          <a:p>
            <a:r>
              <a:rPr lang="pt-PT" sz="2200" dirty="0" smtClean="0"/>
              <a:t>B(1) = 0 – 0 = 0</a:t>
            </a:r>
          </a:p>
          <a:p>
            <a:r>
              <a:rPr lang="pt-PT" sz="2200" dirty="0" smtClean="0"/>
              <a:t>B(0) = -1 – (-1) = 0</a:t>
            </a:r>
          </a:p>
          <a:p>
            <a:r>
              <a:rPr lang="pt-PT" sz="2200" dirty="0" smtClean="0"/>
              <a:t>B(2) = -1 – (-1) = 0</a:t>
            </a:r>
          </a:p>
          <a:p>
            <a:endParaRPr lang="pt-PT" dirty="0"/>
          </a:p>
        </p:txBody>
      </p:sp>
      <p:sp>
        <p:nvSpPr>
          <p:cNvPr id="17" name="Forma Livre 16"/>
          <p:cNvSpPr/>
          <p:nvPr/>
        </p:nvSpPr>
        <p:spPr>
          <a:xfrm>
            <a:off x="2839526" y="4550536"/>
            <a:ext cx="976378" cy="479510"/>
          </a:xfrm>
          <a:custGeom>
            <a:avLst/>
            <a:gdLst>
              <a:gd name="connsiteX0" fmla="*/ 6221 w 961719"/>
              <a:gd name="connsiteY0" fmla="*/ 161452 h 596357"/>
              <a:gd name="connsiteX1" fmla="*/ 140036 w 961719"/>
              <a:gd name="connsiteY1" fmla="*/ 16486 h 596357"/>
              <a:gd name="connsiteX2" fmla="*/ 351909 w 961719"/>
              <a:gd name="connsiteY2" fmla="*/ 306418 h 596357"/>
              <a:gd name="connsiteX3" fmla="*/ 820261 w 961719"/>
              <a:gd name="connsiteY3" fmla="*/ 5335 h 596357"/>
              <a:gd name="connsiteX4" fmla="*/ 931773 w 961719"/>
              <a:gd name="connsiteY4" fmla="*/ 150301 h 596357"/>
              <a:gd name="connsiteX5" fmla="*/ 340758 w 961719"/>
              <a:gd name="connsiteY5" fmla="*/ 596350 h 596357"/>
              <a:gd name="connsiteX6" fmla="*/ 6221 w 961719"/>
              <a:gd name="connsiteY6" fmla="*/ 161452 h 59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61719" h="596357">
                <a:moveTo>
                  <a:pt x="6221" y="161452"/>
                </a:moveTo>
                <a:cubicBezTo>
                  <a:pt x="-27233" y="64808"/>
                  <a:pt x="82421" y="-7675"/>
                  <a:pt x="140036" y="16486"/>
                </a:cubicBezTo>
                <a:cubicBezTo>
                  <a:pt x="197651" y="40647"/>
                  <a:pt x="238538" y="308276"/>
                  <a:pt x="351909" y="306418"/>
                </a:cubicBezTo>
                <a:cubicBezTo>
                  <a:pt x="465280" y="304560"/>
                  <a:pt x="723617" y="31354"/>
                  <a:pt x="820261" y="5335"/>
                </a:cubicBezTo>
                <a:cubicBezTo>
                  <a:pt x="916905" y="-20684"/>
                  <a:pt x="1011690" y="51799"/>
                  <a:pt x="931773" y="150301"/>
                </a:cubicBezTo>
                <a:cubicBezTo>
                  <a:pt x="851856" y="248803"/>
                  <a:pt x="489441" y="598208"/>
                  <a:pt x="340758" y="596350"/>
                </a:cubicBezTo>
                <a:cubicBezTo>
                  <a:pt x="192075" y="594492"/>
                  <a:pt x="39675" y="258096"/>
                  <a:pt x="6221" y="161452"/>
                </a:cubicBezTo>
                <a:close/>
              </a:path>
            </a:pathLst>
          </a:custGeom>
          <a:solidFill>
            <a:srgbClr val="4AE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/>
          <p:cNvSpPr txBox="1"/>
          <p:nvPr/>
        </p:nvSpPr>
        <p:spPr>
          <a:xfrm>
            <a:off x="419881" y="4513244"/>
            <a:ext cx="22002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/>
              <a:t>Esta é uma Árvore AVL</a:t>
            </a:r>
            <a:endParaRPr lang="pt-PT" sz="2200" b="1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0" y="0"/>
            <a:ext cx="12214302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     Balanceamento</a:t>
            </a:r>
            <a:endParaRPr lang="pt-PT" sz="3200" b="1" dirty="0"/>
          </a:p>
        </p:txBody>
      </p:sp>
    </p:spTree>
    <p:extLst>
      <p:ext uri="{BB962C8B-B14F-4D97-AF65-F5344CB8AC3E}">
        <p14:creationId xmlns:p14="http://schemas.microsoft.com/office/powerpoint/2010/main" val="2871601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– AVL                                                 </a:t>
            </a:r>
            <a:r>
              <a:rPr lang="pt-PT" dirty="0" smtClean="0">
                <a:solidFill>
                  <a:schemeClr val="bg1"/>
                </a:solidFill>
              </a:rPr>
              <a:t>FENG-UEM 2022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    Balanceamento</a:t>
            </a:r>
            <a:endParaRPr lang="pt-PT" sz="3200" b="1" dirty="0"/>
          </a:p>
        </p:txBody>
      </p:sp>
      <p:sp>
        <p:nvSpPr>
          <p:cNvPr id="6" name="Espaço Reservado para Conteúdo 5"/>
          <p:cNvSpPr txBox="1">
            <a:spLocks noGrp="1"/>
          </p:cNvSpPr>
          <p:nvPr>
            <p:ph idx="1"/>
          </p:nvPr>
        </p:nvSpPr>
        <p:spPr>
          <a:xfrm>
            <a:off x="7217641" y="1292661"/>
            <a:ext cx="4821959" cy="1236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PT" sz="2200" dirty="0" smtClean="0"/>
              <a:t>B(n) = </a:t>
            </a:r>
            <a:r>
              <a:rPr lang="en-US" sz="2200" dirty="0" smtClean="0"/>
              <a:t>H(</a:t>
            </a:r>
            <a:r>
              <a:rPr lang="en-US" sz="2200" dirty="0" smtClean="0">
                <a:solidFill>
                  <a:schemeClr val="tx1"/>
                </a:solidFill>
              </a:rPr>
              <a:t>SA_E) - </a:t>
            </a:r>
            <a:r>
              <a:rPr lang="en-US" sz="2200" dirty="0" smtClean="0"/>
              <a:t>H(</a:t>
            </a:r>
            <a:r>
              <a:rPr lang="en-US" sz="2200" dirty="0" smtClean="0">
                <a:solidFill>
                  <a:schemeClr val="tx1"/>
                </a:solidFill>
              </a:rPr>
              <a:t>SA_D) ;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 err="1" smtClean="0"/>
              <a:t>AVL_Arvore</a:t>
            </a:r>
            <a:r>
              <a:rPr lang="en-US" sz="2200" dirty="0" smtClean="0"/>
              <a:t> = | B(n) | &lt;= 1</a:t>
            </a:r>
            <a:endParaRPr lang="en-US" sz="2200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Elipse 6"/>
          <p:cNvSpPr/>
          <p:nvPr/>
        </p:nvSpPr>
        <p:spPr>
          <a:xfrm>
            <a:off x="2168405" y="1717046"/>
            <a:ext cx="591015" cy="5670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1872897" y="2856444"/>
            <a:ext cx="591015" cy="5670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1570295" y="3995842"/>
            <a:ext cx="591015" cy="5670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1</a:t>
            </a:r>
          </a:p>
        </p:txBody>
      </p:sp>
      <p:sp>
        <p:nvSpPr>
          <p:cNvPr id="10" name="Elipse 9"/>
          <p:cNvSpPr/>
          <p:nvPr/>
        </p:nvSpPr>
        <p:spPr>
          <a:xfrm>
            <a:off x="685969" y="4987230"/>
            <a:ext cx="591015" cy="5670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0</a:t>
            </a:r>
            <a:endParaRPr lang="pt-PT" sz="2000" b="1" dirty="0"/>
          </a:p>
        </p:txBody>
      </p:sp>
      <p:sp>
        <p:nvSpPr>
          <p:cNvPr id="11" name="Elipse 10"/>
          <p:cNvSpPr/>
          <p:nvPr/>
        </p:nvSpPr>
        <p:spPr>
          <a:xfrm>
            <a:off x="2161310" y="5043404"/>
            <a:ext cx="591015" cy="5670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2</a:t>
            </a:r>
          </a:p>
        </p:txBody>
      </p:sp>
      <p:cxnSp>
        <p:nvCxnSpPr>
          <p:cNvPr id="13" name="Conector reto 12"/>
          <p:cNvCxnSpPr>
            <a:stCxn id="7" idx="4"/>
            <a:endCxn id="8" idx="0"/>
          </p:cNvCxnSpPr>
          <p:nvPr/>
        </p:nvCxnSpPr>
        <p:spPr>
          <a:xfrm flipH="1">
            <a:off x="2168405" y="2284048"/>
            <a:ext cx="295508" cy="5723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4"/>
            <a:endCxn id="9" idx="0"/>
          </p:cNvCxnSpPr>
          <p:nvPr/>
        </p:nvCxnSpPr>
        <p:spPr>
          <a:xfrm flipH="1">
            <a:off x="1865803" y="3423446"/>
            <a:ext cx="302602" cy="5723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9" idx="4"/>
            <a:endCxn id="10" idx="7"/>
          </p:cNvCxnSpPr>
          <p:nvPr/>
        </p:nvCxnSpPr>
        <p:spPr>
          <a:xfrm flipH="1">
            <a:off x="1190432" y="4562844"/>
            <a:ext cx="675371" cy="5074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9" idx="4"/>
            <a:endCxn id="11" idx="0"/>
          </p:cNvCxnSpPr>
          <p:nvPr/>
        </p:nvCxnSpPr>
        <p:spPr>
          <a:xfrm>
            <a:off x="1865803" y="4562844"/>
            <a:ext cx="591015" cy="4805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4560848" y="2815982"/>
            <a:ext cx="5857769" cy="20621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2200" dirty="0" smtClean="0"/>
              <a:t>B(4) = 2 – ( -1) = 3</a:t>
            </a:r>
          </a:p>
          <a:p>
            <a:r>
              <a:rPr lang="pt-PT" sz="2200" dirty="0" smtClean="0"/>
              <a:t>B(3) = 1 – (-1) = 2</a:t>
            </a:r>
          </a:p>
          <a:p>
            <a:r>
              <a:rPr lang="pt-PT" sz="2200" dirty="0" smtClean="0"/>
              <a:t>B(1) = 0 - 0 = 0</a:t>
            </a:r>
          </a:p>
          <a:p>
            <a:r>
              <a:rPr lang="pt-PT" sz="2200" dirty="0" smtClean="0"/>
              <a:t>B(2) = -1 – (-1) = 0</a:t>
            </a:r>
          </a:p>
          <a:p>
            <a:r>
              <a:rPr lang="pt-PT" sz="2200" dirty="0" smtClean="0"/>
              <a:t>B(0) </a:t>
            </a:r>
            <a:r>
              <a:rPr lang="pt-PT" sz="2200" dirty="0"/>
              <a:t>= -1 – (-1) = 0</a:t>
            </a:r>
          </a:p>
          <a:p>
            <a:endParaRPr lang="pt-PT" dirty="0"/>
          </a:p>
        </p:txBody>
      </p:sp>
      <p:sp>
        <p:nvSpPr>
          <p:cNvPr id="24" name="Triângulo isósceles 23"/>
          <p:cNvSpPr/>
          <p:nvPr/>
        </p:nvSpPr>
        <p:spPr>
          <a:xfrm>
            <a:off x="2271513" y="5694208"/>
            <a:ext cx="961623" cy="793516"/>
          </a:xfrm>
          <a:prstGeom prst="triangle">
            <a:avLst/>
          </a:prstGeom>
          <a:solidFill>
            <a:srgbClr val="EAF83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4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2533899" y="5694208"/>
            <a:ext cx="451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400" b="1" dirty="0" smtClean="0"/>
              <a:t>!</a:t>
            </a:r>
            <a:endParaRPr lang="pt-PT" sz="5400" b="1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3324514" y="5694208"/>
            <a:ext cx="3893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 smtClean="0"/>
              <a:t>OBS: </a:t>
            </a:r>
            <a:r>
              <a:rPr lang="pt-PT" sz="2400" b="1" dirty="0"/>
              <a:t>Não está balanceada, portanto não é AVL</a:t>
            </a:r>
          </a:p>
        </p:txBody>
      </p:sp>
    </p:spTree>
    <p:extLst>
      <p:ext uri="{BB962C8B-B14F-4D97-AF65-F5344CB8AC3E}">
        <p14:creationId xmlns:p14="http://schemas.microsoft.com/office/powerpoint/2010/main" val="413154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415772"/>
            <a:ext cx="11353800" cy="4761191"/>
          </a:xfrm>
        </p:spPr>
        <p:txBody>
          <a:bodyPr>
            <a:normAutofit/>
          </a:bodyPr>
          <a:lstStyle/>
          <a:p>
            <a:r>
              <a:rPr lang="pt-PT" sz="2400" dirty="0" smtClean="0"/>
              <a:t>Rotações Simples</a:t>
            </a:r>
            <a:endParaRPr lang="pt-PT" sz="24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– AVL                                                 </a:t>
            </a:r>
            <a:r>
              <a:rPr lang="pt-PT" dirty="0" smtClean="0">
                <a:solidFill>
                  <a:schemeClr val="bg1"/>
                </a:solidFill>
              </a:rPr>
              <a:t>FENG-UEM 2022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    Rotações                      </a:t>
            </a:r>
            <a:r>
              <a:rPr lang="pt-PT" sz="3200" b="1" dirty="0" smtClean="0">
                <a:solidFill>
                  <a:schemeClr val="bg1"/>
                </a:solidFill>
              </a:rPr>
              <a:t>Rotações a Esquerda</a:t>
            </a:r>
          </a:p>
        </p:txBody>
      </p:sp>
      <p:sp>
        <p:nvSpPr>
          <p:cNvPr id="7" name="Elipse 6"/>
          <p:cNvSpPr/>
          <p:nvPr/>
        </p:nvSpPr>
        <p:spPr>
          <a:xfrm>
            <a:off x="1157350" y="2477553"/>
            <a:ext cx="657921" cy="6788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10</a:t>
            </a:r>
            <a:endParaRPr lang="pt-PT" sz="2000" b="1" dirty="0"/>
          </a:p>
        </p:txBody>
      </p:sp>
      <p:sp>
        <p:nvSpPr>
          <p:cNvPr id="8" name="Elipse 7"/>
          <p:cNvSpPr/>
          <p:nvPr/>
        </p:nvSpPr>
        <p:spPr>
          <a:xfrm>
            <a:off x="1630364" y="3402742"/>
            <a:ext cx="657921" cy="6788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25</a:t>
            </a:r>
            <a:endParaRPr lang="pt-PT" sz="2000" b="1" dirty="0"/>
          </a:p>
        </p:txBody>
      </p:sp>
      <p:sp>
        <p:nvSpPr>
          <p:cNvPr id="9" name="Elipse 8"/>
          <p:cNvSpPr/>
          <p:nvPr/>
        </p:nvSpPr>
        <p:spPr>
          <a:xfrm>
            <a:off x="2135009" y="4339211"/>
            <a:ext cx="657921" cy="6788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32</a:t>
            </a:r>
            <a:endParaRPr lang="pt-PT" sz="2000" b="1" dirty="0"/>
          </a:p>
        </p:txBody>
      </p:sp>
      <p:cxnSp>
        <p:nvCxnSpPr>
          <p:cNvPr id="17" name="Conector de Seta Reta 16"/>
          <p:cNvCxnSpPr/>
          <p:nvPr/>
        </p:nvCxnSpPr>
        <p:spPr>
          <a:xfrm>
            <a:off x="1698851" y="2970785"/>
            <a:ext cx="173012" cy="46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>
            <a:off x="2228343" y="3916959"/>
            <a:ext cx="262603" cy="399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 flipH="1">
            <a:off x="1537599" y="3680333"/>
            <a:ext cx="242455" cy="72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 flipH="1">
            <a:off x="1036122" y="2795027"/>
            <a:ext cx="242455" cy="72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9" idx="3"/>
          </p:cNvCxnSpPr>
          <p:nvPr/>
        </p:nvCxnSpPr>
        <p:spPr>
          <a:xfrm flipH="1">
            <a:off x="2129983" y="4918664"/>
            <a:ext cx="101376" cy="453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/>
          <p:nvPr/>
        </p:nvCxnSpPr>
        <p:spPr>
          <a:xfrm>
            <a:off x="2743024" y="4810151"/>
            <a:ext cx="185935" cy="53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277091" y="5864214"/>
            <a:ext cx="3851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smtClean="0"/>
              <a:t>B(10) = -1 – (+1)  = -2 </a:t>
            </a:r>
            <a:endParaRPr lang="pt-PT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507242" y="4431174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2433512" y="5268224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1077192" y="5268225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211027" y="3496096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2261255" y="3462225"/>
            <a:ext cx="17151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B = -1, h = 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1763911" y="2579803"/>
            <a:ext cx="16702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PT" sz="2200" b="1" dirty="0">
                <a:solidFill>
                  <a:schemeClr val="accent1">
                    <a:lumMod val="75000"/>
                  </a:schemeClr>
                </a:solidFill>
              </a:rPr>
              <a:t>B</a:t>
            </a:r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 = -2 , h = 2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2760432" y="4447776"/>
            <a:ext cx="17662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B = 0, h = 0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5" name="Seta para a Direita 34"/>
          <p:cNvSpPr/>
          <p:nvPr/>
        </p:nvSpPr>
        <p:spPr>
          <a:xfrm>
            <a:off x="3749693" y="2258815"/>
            <a:ext cx="1585743" cy="682618"/>
          </a:xfrm>
          <a:prstGeom prst="rightArrow">
            <a:avLst/>
          </a:prstGeom>
          <a:solidFill>
            <a:srgbClr val="4AE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CaixaDeTexto 35"/>
          <p:cNvSpPr txBox="1"/>
          <p:nvPr/>
        </p:nvSpPr>
        <p:spPr>
          <a:xfrm>
            <a:off x="1021966" y="2258814"/>
            <a:ext cx="343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rgbClr val="4AE64E"/>
                </a:solidFill>
              </a:rPr>
              <a:t>A</a:t>
            </a:r>
            <a:endParaRPr lang="pt-PT" b="1" dirty="0">
              <a:solidFill>
                <a:srgbClr val="4AE64E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473127" y="3340622"/>
            <a:ext cx="343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4AE64E"/>
                </a:solidFill>
              </a:rPr>
              <a:t>B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864587" y="4145400"/>
            <a:ext cx="343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solidFill>
                  <a:srgbClr val="4AE64E"/>
                </a:solidFill>
              </a:rPr>
              <a:t>c</a:t>
            </a:r>
          </a:p>
        </p:txBody>
      </p:sp>
      <p:sp>
        <p:nvSpPr>
          <p:cNvPr id="39" name="Elipse 38"/>
          <p:cNvSpPr/>
          <p:nvPr/>
        </p:nvSpPr>
        <p:spPr>
          <a:xfrm>
            <a:off x="6084983" y="1359136"/>
            <a:ext cx="657921" cy="678871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25</a:t>
            </a:r>
            <a:endParaRPr lang="pt-PT" sz="2000" b="1" dirty="0"/>
          </a:p>
        </p:txBody>
      </p:sp>
      <p:sp>
        <p:nvSpPr>
          <p:cNvPr id="40" name="Elipse 39"/>
          <p:cNvSpPr/>
          <p:nvPr/>
        </p:nvSpPr>
        <p:spPr>
          <a:xfrm>
            <a:off x="5505950" y="2401095"/>
            <a:ext cx="657921" cy="678871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10</a:t>
            </a:r>
            <a:endParaRPr lang="pt-PT" sz="2000" b="1" dirty="0"/>
          </a:p>
        </p:txBody>
      </p:sp>
      <p:sp>
        <p:nvSpPr>
          <p:cNvPr id="41" name="Elipse 40"/>
          <p:cNvSpPr/>
          <p:nvPr/>
        </p:nvSpPr>
        <p:spPr>
          <a:xfrm>
            <a:off x="6782701" y="2249475"/>
            <a:ext cx="657921" cy="678871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32</a:t>
            </a:r>
            <a:endParaRPr lang="pt-PT" sz="2000" b="1" dirty="0"/>
          </a:p>
        </p:txBody>
      </p:sp>
      <p:cxnSp>
        <p:nvCxnSpPr>
          <p:cNvPr id="42" name="Conector de Seta Reta 41"/>
          <p:cNvCxnSpPr/>
          <p:nvPr/>
        </p:nvCxnSpPr>
        <p:spPr>
          <a:xfrm>
            <a:off x="6742904" y="1738223"/>
            <a:ext cx="293197" cy="503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/>
          <p:nvPr/>
        </p:nvCxnSpPr>
        <p:spPr>
          <a:xfrm flipH="1">
            <a:off x="5818909" y="1796187"/>
            <a:ext cx="293197" cy="583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41" idx="5"/>
          </p:cNvCxnSpPr>
          <p:nvPr/>
        </p:nvCxnSpPr>
        <p:spPr>
          <a:xfrm>
            <a:off x="7344272" y="2828928"/>
            <a:ext cx="96350" cy="261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41" idx="3"/>
          </p:cNvCxnSpPr>
          <p:nvPr/>
        </p:nvCxnSpPr>
        <p:spPr>
          <a:xfrm flipH="1">
            <a:off x="6808919" y="2828928"/>
            <a:ext cx="70132" cy="32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/>
          <p:nvPr/>
        </p:nvCxnSpPr>
        <p:spPr>
          <a:xfrm flipH="1">
            <a:off x="5456183" y="2883254"/>
            <a:ext cx="70132" cy="32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ector de Seta Reta 52"/>
          <p:cNvCxnSpPr>
            <a:stCxn id="40" idx="5"/>
          </p:cNvCxnSpPr>
          <p:nvPr/>
        </p:nvCxnSpPr>
        <p:spPr>
          <a:xfrm>
            <a:off x="6067521" y="2980548"/>
            <a:ext cx="65443" cy="298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4201357" y="3371430"/>
            <a:ext cx="8087809" cy="3524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2000" b="1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rivate No rotacao_Esquerda ( No&lt;T&gt; A ) {                             // Java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No&lt;T&gt; B,C 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B = A.getNoDireito();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C = B.getNoEsquerdo();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        B.setNoEsquerdo(A);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        A.setNoDireito(C);</a:t>
            </a:r>
          </a:p>
          <a:p>
            <a:endParaRPr lang="pt-PT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PT" b="1" dirty="0" smtClean="0">
                <a:solidFill>
                  <a:schemeClr val="accent1">
                    <a:lumMod val="75000"/>
                  </a:schemeClr>
                </a:solidFill>
              </a:rPr>
              <a:t>A.setAltura(Math.max(altura(A.getNoEsquerdo()), altura(A.getNoDireito())) + 1);</a:t>
            </a:r>
          </a:p>
          <a:p>
            <a:r>
              <a:rPr lang="pt-PT" b="1" dirty="0" smtClean="0">
                <a:solidFill>
                  <a:schemeClr val="accent1">
                    <a:lumMod val="75000"/>
                  </a:schemeClr>
                </a:solidFill>
              </a:rPr>
              <a:t>B.setAltura(Math.max(altura(B.getNoEsquerdo()), altura(B.getNoDireito())) + 1);</a:t>
            </a:r>
            <a:endParaRPr lang="pt-PT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PT" sz="2200" b="1" dirty="0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eturn B;</a:t>
            </a:r>
          </a:p>
          <a:p>
            <a:r>
              <a:rPr lang="pt-PT" b="1" dirty="0" smtClean="0">
                <a:solidFill>
                  <a:schemeClr val="accent1">
                    <a:lumMod val="75000"/>
                  </a:schemeClr>
                </a:solidFill>
              </a:rPr>
              <a:t>}</a:t>
            </a:r>
            <a:endParaRPr lang="pt-PT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46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415772"/>
            <a:ext cx="11353800" cy="4761191"/>
          </a:xfrm>
        </p:spPr>
        <p:txBody>
          <a:bodyPr>
            <a:normAutofit/>
          </a:bodyPr>
          <a:lstStyle/>
          <a:p>
            <a:r>
              <a:rPr lang="pt-PT" sz="2400" dirty="0" smtClean="0"/>
              <a:t>Rotações Simples</a:t>
            </a:r>
            <a:endParaRPr lang="pt-PT" sz="24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– AVL                                                 </a:t>
            </a:r>
            <a:r>
              <a:rPr lang="pt-PT" dirty="0" smtClean="0">
                <a:solidFill>
                  <a:schemeClr val="bg1"/>
                </a:solidFill>
              </a:rPr>
              <a:t>FENG-UEM 2022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    Rotações                             </a:t>
            </a:r>
            <a:r>
              <a:rPr lang="pt-PT" sz="3200" b="1" dirty="0" smtClean="0">
                <a:solidFill>
                  <a:schemeClr val="bg1"/>
                </a:solidFill>
              </a:rPr>
              <a:t>Rotações a Direita</a:t>
            </a:r>
          </a:p>
        </p:txBody>
      </p:sp>
      <p:sp>
        <p:nvSpPr>
          <p:cNvPr id="7" name="Elipse 6"/>
          <p:cNvSpPr/>
          <p:nvPr/>
        </p:nvSpPr>
        <p:spPr>
          <a:xfrm>
            <a:off x="2306982" y="2408749"/>
            <a:ext cx="657921" cy="6788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5</a:t>
            </a:r>
            <a:r>
              <a:rPr lang="pt-PT" sz="2000" b="1" dirty="0" smtClean="0"/>
              <a:t>0</a:t>
            </a:r>
            <a:endParaRPr lang="pt-PT" sz="2000" b="1" dirty="0"/>
          </a:p>
        </p:txBody>
      </p:sp>
      <p:sp>
        <p:nvSpPr>
          <p:cNvPr id="8" name="Elipse 7"/>
          <p:cNvSpPr/>
          <p:nvPr/>
        </p:nvSpPr>
        <p:spPr>
          <a:xfrm>
            <a:off x="1630364" y="3402742"/>
            <a:ext cx="657921" cy="6788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3</a:t>
            </a:r>
            <a:r>
              <a:rPr lang="pt-PT" sz="2000" b="1" dirty="0" smtClean="0"/>
              <a:t>5</a:t>
            </a:r>
            <a:endParaRPr lang="pt-PT" sz="2000" b="1" dirty="0"/>
          </a:p>
        </p:txBody>
      </p:sp>
      <p:sp>
        <p:nvSpPr>
          <p:cNvPr id="9" name="Elipse 8"/>
          <p:cNvSpPr/>
          <p:nvPr/>
        </p:nvSpPr>
        <p:spPr>
          <a:xfrm>
            <a:off x="1205043" y="4630460"/>
            <a:ext cx="657921" cy="6788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</a:t>
            </a:r>
            <a:r>
              <a:rPr lang="pt-PT" sz="2000" b="1" dirty="0"/>
              <a:t>0</a:t>
            </a:r>
          </a:p>
        </p:txBody>
      </p:sp>
      <p:cxnSp>
        <p:nvCxnSpPr>
          <p:cNvPr id="17" name="Conector de Seta Reta 16"/>
          <p:cNvCxnSpPr/>
          <p:nvPr/>
        </p:nvCxnSpPr>
        <p:spPr>
          <a:xfrm>
            <a:off x="2888824" y="3001270"/>
            <a:ext cx="173012" cy="46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>
            <a:off x="2228343" y="3916959"/>
            <a:ext cx="262603" cy="399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 flipH="1">
            <a:off x="1630364" y="4116542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7" idx="3"/>
            <a:endCxn id="8" idx="7"/>
          </p:cNvCxnSpPr>
          <p:nvPr/>
        </p:nvCxnSpPr>
        <p:spPr>
          <a:xfrm flipH="1">
            <a:off x="2191935" y="2988202"/>
            <a:ext cx="211397" cy="513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 flipH="1">
            <a:off x="1229702" y="5214726"/>
            <a:ext cx="101376" cy="453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/>
          <p:nvPr/>
        </p:nvCxnSpPr>
        <p:spPr>
          <a:xfrm>
            <a:off x="1716782" y="5091540"/>
            <a:ext cx="185935" cy="53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161831" y="6071434"/>
            <a:ext cx="3851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smtClean="0"/>
              <a:t>B(50) = +1 – (-1)  = +2 </a:t>
            </a:r>
            <a:endParaRPr lang="pt-PT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2412996" y="4340418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1887792" y="5405009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126407" y="5433327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2673809" y="3505880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111409" y="3437376"/>
            <a:ext cx="17151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B = +1, h = 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192723" y="2550166"/>
            <a:ext cx="19022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PT" sz="2200" b="1" dirty="0">
                <a:solidFill>
                  <a:schemeClr val="accent1">
                    <a:lumMod val="75000"/>
                  </a:schemeClr>
                </a:solidFill>
              </a:rPr>
              <a:t>B</a:t>
            </a:r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 = +2 , h = 2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-9474" y="4351839"/>
            <a:ext cx="17662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B = 0, h = 0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5" name="Seta para a Direita 34"/>
          <p:cNvSpPr/>
          <p:nvPr/>
        </p:nvSpPr>
        <p:spPr>
          <a:xfrm>
            <a:off x="3583733" y="2205751"/>
            <a:ext cx="1751703" cy="722595"/>
          </a:xfrm>
          <a:prstGeom prst="rightArrow">
            <a:avLst/>
          </a:prstGeom>
          <a:solidFill>
            <a:srgbClr val="4AE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CaixaDeTexto 35"/>
          <p:cNvSpPr txBox="1"/>
          <p:nvPr/>
        </p:nvSpPr>
        <p:spPr>
          <a:xfrm>
            <a:off x="2306982" y="2092488"/>
            <a:ext cx="343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rgbClr val="4AE64E"/>
                </a:solidFill>
              </a:rPr>
              <a:t>A</a:t>
            </a:r>
            <a:endParaRPr lang="pt-PT" b="1" dirty="0">
              <a:solidFill>
                <a:srgbClr val="4AE64E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680132" y="3118133"/>
            <a:ext cx="343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4AE64E"/>
                </a:solidFill>
              </a:rPr>
              <a:t>B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2545882" y="4072366"/>
            <a:ext cx="343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solidFill>
                  <a:srgbClr val="4AE64E"/>
                </a:solidFill>
              </a:rPr>
              <a:t>c</a:t>
            </a:r>
          </a:p>
        </p:txBody>
      </p:sp>
      <p:sp>
        <p:nvSpPr>
          <p:cNvPr id="39" name="Elipse 38"/>
          <p:cNvSpPr/>
          <p:nvPr/>
        </p:nvSpPr>
        <p:spPr>
          <a:xfrm>
            <a:off x="6084983" y="1359136"/>
            <a:ext cx="657921" cy="678871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3</a:t>
            </a:r>
            <a:r>
              <a:rPr lang="pt-PT" sz="2000" b="1" dirty="0" smtClean="0"/>
              <a:t>5</a:t>
            </a:r>
            <a:endParaRPr lang="pt-PT" sz="2000" b="1" dirty="0"/>
          </a:p>
        </p:txBody>
      </p:sp>
      <p:sp>
        <p:nvSpPr>
          <p:cNvPr id="40" name="Elipse 39"/>
          <p:cNvSpPr/>
          <p:nvPr/>
        </p:nvSpPr>
        <p:spPr>
          <a:xfrm>
            <a:off x="5505950" y="2401095"/>
            <a:ext cx="657921" cy="678871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2</a:t>
            </a:r>
            <a:r>
              <a:rPr lang="pt-PT" sz="2000" b="1" dirty="0" smtClean="0"/>
              <a:t>0</a:t>
            </a:r>
            <a:endParaRPr lang="pt-PT" sz="2000" b="1" dirty="0"/>
          </a:p>
        </p:txBody>
      </p:sp>
      <p:sp>
        <p:nvSpPr>
          <p:cNvPr id="41" name="Elipse 40"/>
          <p:cNvSpPr/>
          <p:nvPr/>
        </p:nvSpPr>
        <p:spPr>
          <a:xfrm>
            <a:off x="6782701" y="2249475"/>
            <a:ext cx="657921" cy="678871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5</a:t>
            </a:r>
            <a:r>
              <a:rPr lang="pt-PT" sz="2000" b="1" dirty="0"/>
              <a:t>0</a:t>
            </a:r>
          </a:p>
        </p:txBody>
      </p:sp>
      <p:cxnSp>
        <p:nvCxnSpPr>
          <p:cNvPr id="42" name="Conector de Seta Reta 41"/>
          <p:cNvCxnSpPr/>
          <p:nvPr/>
        </p:nvCxnSpPr>
        <p:spPr>
          <a:xfrm>
            <a:off x="6742904" y="1738223"/>
            <a:ext cx="293197" cy="503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/>
          <p:nvPr/>
        </p:nvCxnSpPr>
        <p:spPr>
          <a:xfrm flipH="1">
            <a:off x="5818909" y="1796187"/>
            <a:ext cx="293197" cy="583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41" idx="5"/>
          </p:cNvCxnSpPr>
          <p:nvPr/>
        </p:nvCxnSpPr>
        <p:spPr>
          <a:xfrm>
            <a:off x="7344272" y="2828928"/>
            <a:ext cx="96350" cy="261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41" idx="3"/>
          </p:cNvCxnSpPr>
          <p:nvPr/>
        </p:nvCxnSpPr>
        <p:spPr>
          <a:xfrm flipH="1">
            <a:off x="6808919" y="2828928"/>
            <a:ext cx="70132" cy="32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/>
          <p:nvPr/>
        </p:nvCxnSpPr>
        <p:spPr>
          <a:xfrm flipH="1">
            <a:off x="5456183" y="2883254"/>
            <a:ext cx="70132" cy="32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ector de Seta Reta 52"/>
          <p:cNvCxnSpPr>
            <a:stCxn id="40" idx="5"/>
          </p:cNvCxnSpPr>
          <p:nvPr/>
        </p:nvCxnSpPr>
        <p:spPr>
          <a:xfrm>
            <a:off x="6067521" y="2980548"/>
            <a:ext cx="65443" cy="298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4201357" y="3371430"/>
            <a:ext cx="8087809" cy="3524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2000" b="1" dirty="0">
                <a:solidFill>
                  <a:srgbClr val="0070C0"/>
                </a:solidFill>
              </a:rPr>
              <a:t>p</a:t>
            </a:r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rivate No rotacao_Direita ( No&lt;T&gt; A ) {                             // Java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No&lt;T&gt; B,C 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B = A.getNoEsquerdo();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C = B.getNoDireito();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        B.setNoDireito(A);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        A.setNoEsquerdo(C);</a:t>
            </a:r>
          </a:p>
          <a:p>
            <a:endParaRPr lang="pt-PT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PT" b="1" dirty="0" smtClean="0">
                <a:solidFill>
                  <a:schemeClr val="accent1">
                    <a:lumMod val="75000"/>
                  </a:schemeClr>
                </a:solidFill>
              </a:rPr>
              <a:t>A.setAltura(Math.max(altura(A.getNoEsquerdo()), altura(A.getNoDireito())) + 1);</a:t>
            </a:r>
          </a:p>
          <a:p>
            <a:r>
              <a:rPr lang="pt-PT" b="1" dirty="0" smtClean="0">
                <a:solidFill>
                  <a:schemeClr val="accent1">
                    <a:lumMod val="75000"/>
                  </a:schemeClr>
                </a:solidFill>
              </a:rPr>
              <a:t>B.setAltura(Math.max(altura(B.getNoEsquerdo()), altura(B.getNoDireito())) + 1);</a:t>
            </a:r>
            <a:endParaRPr lang="pt-PT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PT" sz="2200" b="1" dirty="0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eturn B;</a:t>
            </a:r>
          </a:p>
          <a:p>
            <a:r>
              <a:rPr lang="pt-PT" b="1" dirty="0" smtClean="0">
                <a:solidFill>
                  <a:schemeClr val="accent1">
                    <a:lumMod val="75000"/>
                  </a:schemeClr>
                </a:solidFill>
              </a:rPr>
              <a:t>}</a:t>
            </a:r>
            <a:endParaRPr lang="pt-PT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43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415772"/>
            <a:ext cx="11353800" cy="4761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400" dirty="0" smtClean="0"/>
              <a:t>AVL</a:t>
            </a:r>
            <a:endParaRPr lang="pt-PT" sz="24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– AVL                                                 </a:t>
            </a:r>
            <a:r>
              <a:rPr lang="pt-PT" dirty="0" smtClean="0">
                <a:solidFill>
                  <a:schemeClr val="bg1"/>
                </a:solidFill>
              </a:rPr>
              <a:t>FENG-UEM 2022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    Dupla Rotações                   </a:t>
            </a:r>
            <a:r>
              <a:rPr lang="pt-PT" sz="3200" b="1" dirty="0" smtClean="0">
                <a:solidFill>
                  <a:schemeClr val="bg1"/>
                </a:solidFill>
              </a:rPr>
              <a:t>Rotações a Direita-Esquerda</a:t>
            </a:r>
          </a:p>
        </p:txBody>
      </p:sp>
      <p:sp>
        <p:nvSpPr>
          <p:cNvPr id="7" name="Elipse 6"/>
          <p:cNvSpPr/>
          <p:nvPr/>
        </p:nvSpPr>
        <p:spPr>
          <a:xfrm>
            <a:off x="538315" y="2181225"/>
            <a:ext cx="889092" cy="8559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100</a:t>
            </a:r>
            <a:endParaRPr lang="pt-PT" sz="2000" b="1" dirty="0"/>
          </a:p>
        </p:txBody>
      </p:sp>
      <p:sp>
        <p:nvSpPr>
          <p:cNvPr id="8" name="Elipse 7"/>
          <p:cNvSpPr/>
          <p:nvPr/>
        </p:nvSpPr>
        <p:spPr>
          <a:xfrm>
            <a:off x="1315301" y="3401094"/>
            <a:ext cx="840537" cy="86151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200</a:t>
            </a:r>
            <a:endParaRPr lang="pt-PT" sz="2000" b="1" dirty="0"/>
          </a:p>
        </p:txBody>
      </p:sp>
      <p:sp>
        <p:nvSpPr>
          <p:cNvPr id="9" name="Elipse 8"/>
          <p:cNvSpPr/>
          <p:nvPr/>
        </p:nvSpPr>
        <p:spPr>
          <a:xfrm>
            <a:off x="630058" y="4568380"/>
            <a:ext cx="823567" cy="79516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150</a:t>
            </a:r>
            <a:endParaRPr lang="pt-PT" sz="2000" b="1" dirty="0"/>
          </a:p>
        </p:txBody>
      </p:sp>
      <p:cxnSp>
        <p:nvCxnSpPr>
          <p:cNvPr id="17" name="Conector de Seta Reta 16"/>
          <p:cNvCxnSpPr/>
          <p:nvPr/>
        </p:nvCxnSpPr>
        <p:spPr>
          <a:xfrm>
            <a:off x="1157145" y="3013731"/>
            <a:ext cx="371196" cy="379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 flipH="1">
            <a:off x="1197721" y="4073953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>
            <a:off x="2015518" y="4073953"/>
            <a:ext cx="173165" cy="53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 flipH="1">
            <a:off x="605262" y="5215459"/>
            <a:ext cx="101376" cy="453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/>
          <p:nvPr/>
        </p:nvCxnSpPr>
        <p:spPr>
          <a:xfrm>
            <a:off x="1125965" y="5092935"/>
            <a:ext cx="185935" cy="53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176318" y="6071114"/>
            <a:ext cx="3851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smtClean="0"/>
              <a:t>B(100) = -1 – (+1)  = -2 </a:t>
            </a:r>
            <a:endParaRPr lang="pt-PT" dirty="0"/>
          </a:p>
        </p:txBody>
      </p:sp>
      <p:sp>
        <p:nvSpPr>
          <p:cNvPr id="35" name="Seta para a Direita 34"/>
          <p:cNvSpPr/>
          <p:nvPr/>
        </p:nvSpPr>
        <p:spPr>
          <a:xfrm>
            <a:off x="4468882" y="2198077"/>
            <a:ext cx="1602698" cy="699110"/>
          </a:xfrm>
          <a:prstGeom prst="rightArrow">
            <a:avLst/>
          </a:prstGeom>
          <a:solidFill>
            <a:srgbClr val="4AE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9" name="Elipse 38"/>
          <p:cNvSpPr/>
          <p:nvPr/>
        </p:nvSpPr>
        <p:spPr>
          <a:xfrm>
            <a:off x="7515514" y="1592417"/>
            <a:ext cx="951118" cy="900976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150</a:t>
            </a:r>
            <a:endParaRPr lang="pt-PT" sz="2000" b="1" dirty="0"/>
          </a:p>
        </p:txBody>
      </p:sp>
      <p:sp>
        <p:nvSpPr>
          <p:cNvPr id="40" name="Elipse 39"/>
          <p:cNvSpPr/>
          <p:nvPr/>
        </p:nvSpPr>
        <p:spPr>
          <a:xfrm>
            <a:off x="6504494" y="3049400"/>
            <a:ext cx="837748" cy="877596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100</a:t>
            </a:r>
            <a:endParaRPr lang="pt-PT" sz="2000" b="1" dirty="0"/>
          </a:p>
        </p:txBody>
      </p:sp>
      <p:sp>
        <p:nvSpPr>
          <p:cNvPr id="41" name="Elipse 40"/>
          <p:cNvSpPr/>
          <p:nvPr/>
        </p:nvSpPr>
        <p:spPr>
          <a:xfrm>
            <a:off x="8805073" y="3128933"/>
            <a:ext cx="878160" cy="877596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200</a:t>
            </a:r>
            <a:endParaRPr lang="pt-PT" sz="2000" b="1" dirty="0"/>
          </a:p>
        </p:txBody>
      </p:sp>
      <p:cxnSp>
        <p:nvCxnSpPr>
          <p:cNvPr id="42" name="Conector de Seta Reta 41"/>
          <p:cNvCxnSpPr/>
          <p:nvPr/>
        </p:nvCxnSpPr>
        <p:spPr>
          <a:xfrm>
            <a:off x="8388904" y="2312713"/>
            <a:ext cx="749029" cy="774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/>
          <p:nvPr/>
        </p:nvCxnSpPr>
        <p:spPr>
          <a:xfrm flipH="1">
            <a:off x="7060744" y="2354453"/>
            <a:ext cx="565804" cy="693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/>
          <p:nvPr/>
        </p:nvCxnSpPr>
        <p:spPr>
          <a:xfrm>
            <a:off x="9586883" y="3862584"/>
            <a:ext cx="326374" cy="464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/>
          <p:nvPr/>
        </p:nvCxnSpPr>
        <p:spPr>
          <a:xfrm flipH="1">
            <a:off x="8820402" y="3948307"/>
            <a:ext cx="196359" cy="390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/>
          <p:nvPr/>
        </p:nvCxnSpPr>
        <p:spPr>
          <a:xfrm flipH="1">
            <a:off x="6309776" y="3831851"/>
            <a:ext cx="357527" cy="476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ector de Seta Reta 52"/>
          <p:cNvCxnSpPr/>
          <p:nvPr/>
        </p:nvCxnSpPr>
        <p:spPr>
          <a:xfrm>
            <a:off x="7231982" y="3836110"/>
            <a:ext cx="362599" cy="503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5113337" y="5540965"/>
            <a:ext cx="7094898" cy="1323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2000" b="1" dirty="0">
                <a:solidFill>
                  <a:srgbClr val="0070C0"/>
                </a:solidFill>
              </a:rPr>
              <a:t>public No rorataco_Direita_Esquerda(No&lt;T&gt; no) {</a:t>
            </a:r>
          </a:p>
          <a:p>
            <a:r>
              <a:rPr lang="pt-PT" sz="2000" b="1" dirty="0">
                <a:solidFill>
                  <a:srgbClr val="0070C0"/>
                </a:solidFill>
              </a:rPr>
              <a:t>        no.setNoDireito(rightRotation(no.getNoDireito()));</a:t>
            </a:r>
          </a:p>
          <a:p>
            <a:r>
              <a:rPr lang="pt-PT" sz="2000" b="1" dirty="0">
                <a:solidFill>
                  <a:srgbClr val="0070C0"/>
                </a:solidFill>
              </a:rPr>
              <a:t>        return LefttRotation(no);</a:t>
            </a:r>
          </a:p>
          <a:p>
            <a:r>
              <a:rPr lang="pt-PT" sz="2000" b="1" dirty="0">
                <a:solidFill>
                  <a:srgbClr val="0070C0"/>
                </a:solidFill>
              </a:rPr>
              <a:t>    }</a:t>
            </a:r>
            <a:endParaRPr lang="pt-PT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44" name="Conector de Seta Reta 43"/>
          <p:cNvCxnSpPr/>
          <p:nvPr/>
        </p:nvCxnSpPr>
        <p:spPr>
          <a:xfrm flipH="1">
            <a:off x="538315" y="2947010"/>
            <a:ext cx="314071" cy="53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Elipse 53"/>
          <p:cNvSpPr/>
          <p:nvPr/>
        </p:nvSpPr>
        <p:spPr>
          <a:xfrm>
            <a:off x="2664993" y="2038007"/>
            <a:ext cx="865198" cy="89033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100</a:t>
            </a:r>
            <a:endParaRPr lang="pt-PT" sz="2000" b="1" dirty="0"/>
          </a:p>
        </p:txBody>
      </p:sp>
      <p:sp>
        <p:nvSpPr>
          <p:cNvPr id="55" name="Elipse 54"/>
          <p:cNvSpPr/>
          <p:nvPr/>
        </p:nvSpPr>
        <p:spPr>
          <a:xfrm>
            <a:off x="3530190" y="3434267"/>
            <a:ext cx="823567" cy="79516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150</a:t>
            </a:r>
            <a:endParaRPr lang="pt-PT" sz="2000" b="1" dirty="0"/>
          </a:p>
        </p:txBody>
      </p:sp>
      <p:sp>
        <p:nvSpPr>
          <p:cNvPr id="56" name="Elipse 55"/>
          <p:cNvSpPr/>
          <p:nvPr/>
        </p:nvSpPr>
        <p:spPr>
          <a:xfrm>
            <a:off x="4380341" y="4652598"/>
            <a:ext cx="843573" cy="83018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200</a:t>
            </a:r>
            <a:endParaRPr lang="pt-PT" sz="2000" b="1" dirty="0"/>
          </a:p>
        </p:txBody>
      </p:sp>
      <p:cxnSp>
        <p:nvCxnSpPr>
          <p:cNvPr id="58" name="Conector de Seta Reta 57"/>
          <p:cNvCxnSpPr/>
          <p:nvPr/>
        </p:nvCxnSpPr>
        <p:spPr>
          <a:xfrm>
            <a:off x="3318502" y="2885363"/>
            <a:ext cx="344869" cy="548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/>
          <p:nvPr/>
        </p:nvCxnSpPr>
        <p:spPr>
          <a:xfrm>
            <a:off x="4181322" y="4124219"/>
            <a:ext cx="384123" cy="597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Seta em Curva para Cima 61"/>
          <p:cNvSpPr/>
          <p:nvPr/>
        </p:nvSpPr>
        <p:spPr>
          <a:xfrm rot="12776636">
            <a:off x="3086445" y="4457112"/>
            <a:ext cx="1380599" cy="797087"/>
          </a:xfrm>
          <a:prstGeom prst="curvedUpArrow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64" name="Seta em Curva para a Esquerda 63"/>
          <p:cNvSpPr/>
          <p:nvPr/>
        </p:nvSpPr>
        <p:spPr>
          <a:xfrm rot="11425075">
            <a:off x="1501281" y="4507491"/>
            <a:ext cx="796285" cy="1170885"/>
          </a:xfrm>
          <a:prstGeom prst="curvedLeftArrow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cxnSp>
        <p:nvCxnSpPr>
          <p:cNvPr id="66" name="Conector de Seta Reta 65"/>
          <p:cNvCxnSpPr/>
          <p:nvPr/>
        </p:nvCxnSpPr>
        <p:spPr>
          <a:xfrm flipH="1">
            <a:off x="2533853" y="2833901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/>
          <p:nvPr/>
        </p:nvCxnSpPr>
        <p:spPr>
          <a:xfrm flipH="1">
            <a:off x="3369347" y="4015459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ector de Seta Reta 67"/>
          <p:cNvCxnSpPr/>
          <p:nvPr/>
        </p:nvCxnSpPr>
        <p:spPr>
          <a:xfrm flipH="1">
            <a:off x="4293104" y="5234829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/>
          <p:nvPr/>
        </p:nvCxnSpPr>
        <p:spPr>
          <a:xfrm>
            <a:off x="4971710" y="5245851"/>
            <a:ext cx="185935" cy="53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21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426190"/>
            <a:ext cx="11353800" cy="4761191"/>
          </a:xfrm>
        </p:spPr>
        <p:txBody>
          <a:bodyPr>
            <a:normAutofit/>
          </a:bodyPr>
          <a:lstStyle/>
          <a:p>
            <a:r>
              <a:rPr lang="pt-PT" sz="2400" dirty="0" smtClean="0"/>
              <a:t>Rotações Simples</a:t>
            </a:r>
            <a:endParaRPr lang="pt-PT" sz="24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– AVL                                                 </a:t>
            </a:r>
            <a:r>
              <a:rPr lang="pt-PT" dirty="0" smtClean="0">
                <a:solidFill>
                  <a:schemeClr val="bg1"/>
                </a:solidFill>
              </a:rPr>
              <a:t>FENG-UEM 2022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    Dupla Rotações                   </a:t>
            </a:r>
            <a:r>
              <a:rPr lang="pt-PT" sz="3200" b="1" dirty="0" smtClean="0">
                <a:solidFill>
                  <a:schemeClr val="bg1"/>
                </a:solidFill>
              </a:rPr>
              <a:t>Rotações a Esquerda_Direita</a:t>
            </a:r>
          </a:p>
        </p:txBody>
      </p:sp>
      <p:sp>
        <p:nvSpPr>
          <p:cNvPr id="7" name="Elipse 6"/>
          <p:cNvSpPr/>
          <p:nvPr/>
        </p:nvSpPr>
        <p:spPr>
          <a:xfrm>
            <a:off x="1583477" y="2208747"/>
            <a:ext cx="889092" cy="8559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2</a:t>
            </a:r>
            <a:r>
              <a:rPr lang="pt-PT" sz="2000" b="1" dirty="0" smtClean="0"/>
              <a:t>00</a:t>
            </a:r>
            <a:endParaRPr lang="pt-PT" sz="2000" b="1" dirty="0"/>
          </a:p>
        </p:txBody>
      </p:sp>
      <p:sp>
        <p:nvSpPr>
          <p:cNvPr id="8" name="Elipse 7"/>
          <p:cNvSpPr/>
          <p:nvPr/>
        </p:nvSpPr>
        <p:spPr>
          <a:xfrm>
            <a:off x="734283" y="3344078"/>
            <a:ext cx="840537" cy="86151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1</a:t>
            </a:r>
            <a:r>
              <a:rPr lang="pt-PT" sz="2000" b="1" dirty="0" smtClean="0"/>
              <a:t>00</a:t>
            </a:r>
            <a:endParaRPr lang="pt-PT" sz="2000" b="1" dirty="0"/>
          </a:p>
        </p:txBody>
      </p:sp>
      <p:sp>
        <p:nvSpPr>
          <p:cNvPr id="9" name="Elipse 8"/>
          <p:cNvSpPr/>
          <p:nvPr/>
        </p:nvSpPr>
        <p:spPr>
          <a:xfrm>
            <a:off x="1366603" y="4694609"/>
            <a:ext cx="823567" cy="79516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150</a:t>
            </a:r>
            <a:endParaRPr lang="pt-PT" sz="2000" b="1" dirty="0"/>
          </a:p>
        </p:txBody>
      </p:sp>
      <p:cxnSp>
        <p:nvCxnSpPr>
          <p:cNvPr id="17" name="Conector de Seta Reta 16"/>
          <p:cNvCxnSpPr/>
          <p:nvPr/>
        </p:nvCxnSpPr>
        <p:spPr>
          <a:xfrm>
            <a:off x="2313321" y="2955201"/>
            <a:ext cx="371196" cy="379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 flipH="1">
            <a:off x="632440" y="4205593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>
            <a:off x="1394514" y="4164139"/>
            <a:ext cx="173165" cy="53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 flipH="1">
            <a:off x="1460114" y="5434708"/>
            <a:ext cx="101376" cy="453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/>
          <p:nvPr/>
        </p:nvCxnSpPr>
        <p:spPr>
          <a:xfrm>
            <a:off x="2055074" y="5269470"/>
            <a:ext cx="185935" cy="53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222259" y="6064909"/>
            <a:ext cx="3851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smtClean="0"/>
              <a:t>B(200) = +1 – (-1)  = +2 </a:t>
            </a:r>
            <a:endParaRPr lang="pt-PT" dirty="0"/>
          </a:p>
        </p:txBody>
      </p:sp>
      <p:sp>
        <p:nvSpPr>
          <p:cNvPr id="35" name="Seta para a Direita 34"/>
          <p:cNvSpPr/>
          <p:nvPr/>
        </p:nvSpPr>
        <p:spPr>
          <a:xfrm>
            <a:off x="5372947" y="2515412"/>
            <a:ext cx="1379154" cy="662027"/>
          </a:xfrm>
          <a:prstGeom prst="rightArrow">
            <a:avLst/>
          </a:prstGeom>
          <a:solidFill>
            <a:srgbClr val="4AE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9" name="Elipse 38"/>
          <p:cNvSpPr/>
          <p:nvPr/>
        </p:nvSpPr>
        <p:spPr>
          <a:xfrm>
            <a:off x="7946052" y="1772962"/>
            <a:ext cx="951118" cy="900976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150</a:t>
            </a:r>
            <a:endParaRPr lang="pt-PT" sz="2000" b="1" dirty="0"/>
          </a:p>
        </p:txBody>
      </p:sp>
      <p:sp>
        <p:nvSpPr>
          <p:cNvPr id="40" name="Elipse 39"/>
          <p:cNvSpPr/>
          <p:nvPr/>
        </p:nvSpPr>
        <p:spPr>
          <a:xfrm>
            <a:off x="6976008" y="2995377"/>
            <a:ext cx="837748" cy="877596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100</a:t>
            </a:r>
            <a:endParaRPr lang="pt-PT" sz="2000" b="1" dirty="0"/>
          </a:p>
        </p:txBody>
      </p:sp>
      <p:sp>
        <p:nvSpPr>
          <p:cNvPr id="41" name="Elipse 40"/>
          <p:cNvSpPr/>
          <p:nvPr/>
        </p:nvSpPr>
        <p:spPr>
          <a:xfrm>
            <a:off x="8897170" y="3076510"/>
            <a:ext cx="878160" cy="877596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200</a:t>
            </a:r>
            <a:endParaRPr lang="pt-PT" sz="2000" b="1" dirty="0"/>
          </a:p>
        </p:txBody>
      </p:sp>
      <p:cxnSp>
        <p:nvCxnSpPr>
          <p:cNvPr id="42" name="Conector de Seta Reta 41"/>
          <p:cNvCxnSpPr/>
          <p:nvPr/>
        </p:nvCxnSpPr>
        <p:spPr>
          <a:xfrm>
            <a:off x="8822504" y="2510545"/>
            <a:ext cx="293197" cy="503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/>
          <p:nvPr/>
        </p:nvCxnSpPr>
        <p:spPr>
          <a:xfrm flipH="1">
            <a:off x="7716702" y="2526090"/>
            <a:ext cx="293860" cy="472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/>
          <p:nvPr/>
        </p:nvCxnSpPr>
        <p:spPr>
          <a:xfrm>
            <a:off x="9678050" y="3845930"/>
            <a:ext cx="349665" cy="47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/>
          <p:nvPr/>
        </p:nvCxnSpPr>
        <p:spPr>
          <a:xfrm flipH="1">
            <a:off x="6779202" y="3806786"/>
            <a:ext cx="305387" cy="398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/>
          <p:nvPr/>
        </p:nvCxnSpPr>
        <p:spPr>
          <a:xfrm flipH="1">
            <a:off x="8757572" y="3876786"/>
            <a:ext cx="303201" cy="442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ector de Seta Reta 52"/>
          <p:cNvCxnSpPr/>
          <p:nvPr/>
        </p:nvCxnSpPr>
        <p:spPr>
          <a:xfrm>
            <a:off x="7622235" y="3834892"/>
            <a:ext cx="284992" cy="370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5113337" y="5540965"/>
            <a:ext cx="7094898" cy="1323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2000" b="1" dirty="0">
                <a:solidFill>
                  <a:srgbClr val="0070C0"/>
                </a:solidFill>
              </a:rPr>
              <a:t>public No rorataco_Esquerda_Direita(No&lt;T&gt; no) {</a:t>
            </a:r>
          </a:p>
          <a:p>
            <a:r>
              <a:rPr lang="pt-PT" sz="2000" b="1" dirty="0">
                <a:solidFill>
                  <a:srgbClr val="0070C0"/>
                </a:solidFill>
              </a:rPr>
              <a:t>        no.setNoEsquerdo(LefttRotation(no.getNoEsquerdo()));</a:t>
            </a:r>
          </a:p>
          <a:p>
            <a:r>
              <a:rPr lang="pt-PT" sz="2000" b="1" dirty="0">
                <a:solidFill>
                  <a:srgbClr val="0070C0"/>
                </a:solidFill>
              </a:rPr>
              <a:t>        return rightRotation(no);</a:t>
            </a:r>
          </a:p>
          <a:p>
            <a:r>
              <a:rPr lang="pt-PT" sz="2000" b="1" dirty="0">
                <a:solidFill>
                  <a:srgbClr val="0070C0"/>
                </a:solidFill>
              </a:rPr>
              <a:t>    }</a:t>
            </a:r>
            <a:endParaRPr lang="pt-PT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44" name="Conector de Seta Reta 43"/>
          <p:cNvCxnSpPr/>
          <p:nvPr/>
        </p:nvCxnSpPr>
        <p:spPr>
          <a:xfrm flipH="1">
            <a:off x="1481097" y="2921208"/>
            <a:ext cx="314071" cy="53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Elipse 53"/>
          <p:cNvSpPr/>
          <p:nvPr/>
        </p:nvSpPr>
        <p:spPr>
          <a:xfrm>
            <a:off x="3841589" y="2068447"/>
            <a:ext cx="865198" cy="89033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2</a:t>
            </a:r>
            <a:r>
              <a:rPr lang="pt-PT" sz="2000" b="1" dirty="0" smtClean="0"/>
              <a:t>00</a:t>
            </a:r>
            <a:endParaRPr lang="pt-PT" sz="2000" b="1" dirty="0"/>
          </a:p>
        </p:txBody>
      </p:sp>
      <p:sp>
        <p:nvSpPr>
          <p:cNvPr id="55" name="Elipse 54"/>
          <p:cNvSpPr/>
          <p:nvPr/>
        </p:nvSpPr>
        <p:spPr>
          <a:xfrm>
            <a:off x="3283002" y="3391066"/>
            <a:ext cx="823567" cy="79516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150</a:t>
            </a:r>
            <a:endParaRPr lang="pt-PT" sz="2000" b="1" dirty="0"/>
          </a:p>
        </p:txBody>
      </p:sp>
      <p:sp>
        <p:nvSpPr>
          <p:cNvPr id="56" name="Elipse 55"/>
          <p:cNvSpPr/>
          <p:nvPr/>
        </p:nvSpPr>
        <p:spPr>
          <a:xfrm>
            <a:off x="2769022" y="4791878"/>
            <a:ext cx="843573" cy="83018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1</a:t>
            </a:r>
            <a:r>
              <a:rPr lang="pt-PT" sz="2000" b="1" dirty="0" smtClean="0"/>
              <a:t>00</a:t>
            </a:r>
            <a:endParaRPr lang="pt-PT" sz="2000" b="1" dirty="0"/>
          </a:p>
        </p:txBody>
      </p:sp>
      <p:cxnSp>
        <p:nvCxnSpPr>
          <p:cNvPr id="58" name="Conector de Seta Reta 57"/>
          <p:cNvCxnSpPr/>
          <p:nvPr/>
        </p:nvCxnSpPr>
        <p:spPr>
          <a:xfrm>
            <a:off x="3467174" y="5358055"/>
            <a:ext cx="344869" cy="548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/>
          <p:nvPr/>
        </p:nvCxnSpPr>
        <p:spPr>
          <a:xfrm>
            <a:off x="4484292" y="2861993"/>
            <a:ext cx="384123" cy="597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Seta em Curva para Cima 61"/>
          <p:cNvSpPr/>
          <p:nvPr/>
        </p:nvSpPr>
        <p:spPr>
          <a:xfrm rot="12776636">
            <a:off x="102668" y="4883644"/>
            <a:ext cx="1228650" cy="641480"/>
          </a:xfrm>
          <a:prstGeom prst="curvedUpArrow">
            <a:avLst/>
          </a:prstGeom>
          <a:solidFill>
            <a:srgbClr val="EAF83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64" name="Seta em Curva para a Esquerda 63"/>
          <p:cNvSpPr/>
          <p:nvPr/>
        </p:nvSpPr>
        <p:spPr>
          <a:xfrm rot="11425075">
            <a:off x="4086150" y="4388830"/>
            <a:ext cx="796285" cy="1170885"/>
          </a:xfrm>
          <a:prstGeom prst="curvedLeftArrow">
            <a:avLst/>
          </a:prstGeom>
          <a:solidFill>
            <a:srgbClr val="4AE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cxnSp>
        <p:nvCxnSpPr>
          <p:cNvPr id="66" name="Conector de Seta Reta 65"/>
          <p:cNvCxnSpPr/>
          <p:nvPr/>
        </p:nvCxnSpPr>
        <p:spPr>
          <a:xfrm flipH="1">
            <a:off x="2708255" y="5400960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/>
          <p:nvPr/>
        </p:nvCxnSpPr>
        <p:spPr>
          <a:xfrm flipH="1">
            <a:off x="3248131" y="4115237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ector de Seta Reta 67"/>
          <p:cNvCxnSpPr/>
          <p:nvPr/>
        </p:nvCxnSpPr>
        <p:spPr>
          <a:xfrm flipH="1">
            <a:off x="3812043" y="2823511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/>
          <p:nvPr/>
        </p:nvCxnSpPr>
        <p:spPr>
          <a:xfrm>
            <a:off x="4055380" y="3983297"/>
            <a:ext cx="185935" cy="53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56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7" grpId="0" animBg="1"/>
      <p:bldP spid="62" grpId="0" animBg="1"/>
      <p:bldP spid="6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PT" sz="13800" dirty="0" smtClean="0">
                <a:solidFill>
                  <a:srgbClr val="4AE64E"/>
                </a:solidFill>
              </a:rPr>
              <a:t>Obrigado!</a:t>
            </a:r>
          </a:p>
          <a:p>
            <a:pPr marL="0" indent="0" algn="ctr">
              <a:buNone/>
            </a:pPr>
            <a:r>
              <a:rPr lang="pt-PT" sz="8000" b="1" dirty="0" smtClean="0">
                <a:solidFill>
                  <a:schemeClr val="bg1">
                    <a:lumMod val="50000"/>
                  </a:schemeClr>
                </a:solidFill>
              </a:rPr>
              <a:t>&gt;&gt; codigo</a:t>
            </a:r>
            <a:endParaRPr lang="pt-PT" sz="8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miley 3"/>
          <p:cNvSpPr/>
          <p:nvPr/>
        </p:nvSpPr>
        <p:spPr>
          <a:xfrm>
            <a:off x="4949371" y="420914"/>
            <a:ext cx="1553029" cy="1506311"/>
          </a:xfrm>
          <a:prstGeom prst="smileyFac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3160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1369</TotalTime>
  <Words>883</Words>
  <Application>Microsoft Office PowerPoint</Application>
  <PresentationFormat>Widescreen</PresentationFormat>
  <Paragraphs>205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Munaira</dc:creator>
  <cp:lastModifiedBy>Munaira</cp:lastModifiedBy>
  <cp:revision>42</cp:revision>
  <dcterms:created xsi:type="dcterms:W3CDTF">2022-10-17T07:41:17Z</dcterms:created>
  <dcterms:modified xsi:type="dcterms:W3CDTF">2022-10-21T07:09:46Z</dcterms:modified>
</cp:coreProperties>
</file>